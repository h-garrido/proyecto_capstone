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alibri (MS)" charset="1" panose="020F0502020204030204"/>
      <p:regular r:id="rId21"/>
    </p:embeddedFont>
    <p:embeddedFont>
      <p:font typeface="Canva Sans" charset="1" panose="020B05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embeddings/oleObject2.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embeddings/oleObject3.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embeddings/oleObject4.bin" Type="http://schemas.openxmlformats.org/officeDocument/2006/relationships/oleObject"/><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embeddings/oleObject5.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embeddings/oleObject6.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TextBox 4" id="4"/>
          <p:cNvSpPr txBox="true"/>
          <p:nvPr/>
        </p:nvSpPr>
        <p:spPr>
          <a:xfrm rot="0">
            <a:off x="91441" y="3964533"/>
            <a:ext cx="18105118" cy="1685925"/>
          </a:xfrm>
          <a:prstGeom prst="rect">
            <a:avLst/>
          </a:prstGeom>
        </p:spPr>
        <p:txBody>
          <a:bodyPr anchor="t" rtlCol="false" tIns="0" lIns="0" bIns="0" rIns="0">
            <a:spAutoFit/>
          </a:bodyPr>
          <a:lstStyle/>
          <a:p>
            <a:pPr algn="ctr">
              <a:lnSpc>
                <a:spcPts val="7920"/>
              </a:lnSpc>
            </a:pPr>
            <a:r>
              <a:rPr lang="en-US" sz="6600">
                <a:solidFill>
                  <a:srgbClr val="000000"/>
                </a:solidFill>
                <a:latin typeface="Calibri (MS)"/>
                <a:ea typeface="Calibri (MS)"/>
                <a:cs typeface="Calibri (MS)"/>
                <a:sym typeface="Calibri (MS)"/>
              </a:rPr>
              <a:t>PROYECTO Axis Flow</a:t>
            </a:r>
          </a:p>
          <a:p>
            <a:pPr algn="ctr">
              <a:lnSpc>
                <a:spcPts val="4320"/>
              </a:lnSpc>
            </a:pPr>
            <a:r>
              <a:rPr lang="en-US" sz="3600">
                <a:solidFill>
                  <a:srgbClr val="000000"/>
                </a:solidFill>
                <a:latin typeface="Calibri (MS)"/>
                <a:ea typeface="Calibri (MS)"/>
                <a:cs typeface="Calibri (MS)"/>
                <a:sym typeface="Calibri (MS)"/>
              </a:rPr>
              <a:t>PRESENTACIÓN FINAL CAPSTONE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grpSp>
        <p:nvGrpSpPr>
          <p:cNvPr name="Group 4" id="4"/>
          <p:cNvGrpSpPr/>
          <p:nvPr/>
        </p:nvGrpSpPr>
        <p:grpSpPr>
          <a:xfrm rot="0">
            <a:off x="6181539" y="2566228"/>
            <a:ext cx="11450241" cy="2039322"/>
            <a:chOff x="0" y="0"/>
            <a:chExt cx="15266988" cy="2719096"/>
          </a:xfrm>
        </p:grpSpPr>
        <p:sp>
          <p:nvSpPr>
            <p:cNvPr name="Freeform 5" id="5"/>
            <p:cNvSpPr/>
            <p:nvPr/>
          </p:nvSpPr>
          <p:spPr>
            <a:xfrm flipH="false" flipV="false" rot="0">
              <a:off x="0" y="0"/>
              <a:ext cx="15266924" cy="2719070"/>
            </a:xfrm>
            <a:custGeom>
              <a:avLst/>
              <a:gdLst/>
              <a:ahLst/>
              <a:cxnLst/>
              <a:rect r="r" b="b" t="t" l="l"/>
              <a:pathLst>
                <a:path h="2719070" w="15266924">
                  <a:moveTo>
                    <a:pt x="0" y="271907"/>
                  </a:moveTo>
                  <a:cubicBezTo>
                    <a:pt x="0" y="121793"/>
                    <a:pt x="121793" y="0"/>
                    <a:pt x="271907" y="0"/>
                  </a:cubicBezTo>
                  <a:lnTo>
                    <a:pt x="14995018" y="0"/>
                  </a:lnTo>
                  <a:cubicBezTo>
                    <a:pt x="15145131" y="0"/>
                    <a:pt x="15266924" y="121793"/>
                    <a:pt x="15266924" y="271907"/>
                  </a:cubicBezTo>
                  <a:lnTo>
                    <a:pt x="15266924" y="2447163"/>
                  </a:lnTo>
                  <a:cubicBezTo>
                    <a:pt x="15266924" y="2597277"/>
                    <a:pt x="15145131" y="2719070"/>
                    <a:pt x="14995018" y="2719070"/>
                  </a:cubicBezTo>
                  <a:lnTo>
                    <a:pt x="271907" y="2719070"/>
                  </a:lnTo>
                  <a:cubicBezTo>
                    <a:pt x="121793" y="2719070"/>
                    <a:pt x="0" y="2597404"/>
                    <a:pt x="0" y="2447163"/>
                  </a:cubicBezTo>
                  <a:close/>
                </a:path>
              </a:pathLst>
            </a:custGeom>
            <a:gradFill rotWithShape="true">
              <a:gsLst>
                <a:gs pos="0">
                  <a:srgbClr val="72A7DB">
                    <a:alpha val="100000"/>
                  </a:srgbClr>
                </a:gs>
                <a:gs pos="50000">
                  <a:srgbClr val="559BDB">
                    <a:alpha val="100000"/>
                  </a:srgbClr>
                </a:gs>
                <a:gs pos="100000">
                  <a:srgbClr val="448AC9">
                    <a:alpha val="100000"/>
                  </a:srgbClr>
                </a:gs>
              </a:gsLst>
              <a:lin ang="5400000"/>
            </a:gradFill>
          </p:spPr>
        </p:sp>
      </p:grpSp>
      <p:grpSp>
        <p:nvGrpSpPr>
          <p:cNvPr name="Group 6" id="6"/>
          <p:cNvGrpSpPr/>
          <p:nvPr/>
        </p:nvGrpSpPr>
        <p:grpSpPr>
          <a:xfrm rot="0">
            <a:off x="8670756" y="2561466"/>
            <a:ext cx="8965785" cy="1603248"/>
            <a:chOff x="0" y="0"/>
            <a:chExt cx="11954380" cy="2137664"/>
          </a:xfrm>
        </p:grpSpPr>
        <p:sp>
          <p:nvSpPr>
            <p:cNvPr name="Freeform 7" id="7"/>
            <p:cNvSpPr/>
            <p:nvPr/>
          </p:nvSpPr>
          <p:spPr>
            <a:xfrm flipH="false" flipV="false" rot="0">
              <a:off x="0" y="0"/>
              <a:ext cx="11954380" cy="2137664"/>
            </a:xfrm>
            <a:custGeom>
              <a:avLst/>
              <a:gdLst/>
              <a:ahLst/>
              <a:cxnLst/>
              <a:rect r="r" b="b" t="t" l="l"/>
              <a:pathLst>
                <a:path h="2137664" w="11954380">
                  <a:moveTo>
                    <a:pt x="0" y="0"/>
                  </a:moveTo>
                  <a:lnTo>
                    <a:pt x="11954380" y="0"/>
                  </a:lnTo>
                  <a:lnTo>
                    <a:pt x="11954380" y="2137664"/>
                  </a:lnTo>
                  <a:lnTo>
                    <a:pt x="0" y="2137664"/>
                  </a:lnTo>
                  <a:lnTo>
                    <a:pt x="0" y="0"/>
                  </a:lnTo>
                  <a:close/>
                </a:path>
              </a:pathLst>
            </a:custGeom>
            <a:blipFill>
              <a:blip r:embed="rId3">
                <a:extLst>
                  <a:ext uri="{96DAC541-7B7A-43D3-8B79-37D633B846F1}">
                    <asvg:svgBlip xmlns:asvg="http://schemas.microsoft.com/office/drawing/2016/SVG/main" r:embed="rId4"/>
                  </a:ext>
                </a:extLst>
              </a:blip>
              <a:stretch>
                <a:fillRect l="0" t="-13896" r="0" b="-13896"/>
              </a:stretch>
            </a:blipFill>
          </p:spPr>
        </p:sp>
        <p:sp>
          <p:nvSpPr>
            <p:cNvPr name="TextBox 8" id="8"/>
            <p:cNvSpPr txBox="true"/>
            <p:nvPr/>
          </p:nvSpPr>
          <p:spPr>
            <a:xfrm rot="0">
              <a:off x="132080" y="93980"/>
              <a:ext cx="11690220" cy="1911604"/>
            </a:xfrm>
            <a:prstGeom prst="rect">
              <a:avLst/>
            </a:prstGeom>
          </p:spPr>
          <p:txBody>
            <a:bodyPr anchor="t" rtlCol="false" tIns="0" lIns="0" bIns="0" rIns="0">
              <a:spAutoFit/>
            </a:bodyPr>
            <a:lstStyle/>
            <a:p>
              <a:pPr algn="l">
                <a:lnSpc>
                  <a:spcPts val="4212"/>
                </a:lnSpc>
              </a:pPr>
              <a:r>
                <a:rPr lang="en-US" sz="3900">
                  <a:solidFill>
                    <a:srgbClr val="FFFFFF"/>
                  </a:solidFill>
                  <a:latin typeface="Calibri (MS)"/>
                  <a:ea typeface="Calibri (MS)"/>
                  <a:cs typeface="Calibri (MS)"/>
                  <a:sym typeface="Calibri (MS)"/>
                </a:rPr>
                <a:t>Abraham Isaías Rubilar Albarrán</a:t>
              </a:r>
            </a:p>
            <a:p>
              <a:pPr algn="l" marL="542925" indent="-180975" lvl="2">
                <a:lnSpc>
                  <a:spcPts val="3240"/>
                </a:lnSpc>
                <a:buFont typeface="Arial"/>
                <a:buChar char="⚬"/>
              </a:pPr>
              <a:r>
                <a:rPr lang="en-US" sz="3000">
                  <a:solidFill>
                    <a:srgbClr val="FFFFFF"/>
                  </a:solidFill>
                  <a:latin typeface="Calibri (MS)"/>
                  <a:ea typeface="Calibri (MS)"/>
                  <a:cs typeface="Calibri (MS)"/>
                  <a:sym typeface="Calibri (MS)"/>
                </a:rPr>
                <a:t>Scrum Master</a:t>
              </a:r>
            </a:p>
            <a:p>
              <a:pPr algn="l" marL="542925" indent="-180975" lvl="2">
                <a:lnSpc>
                  <a:spcPts val="3240"/>
                </a:lnSpc>
                <a:buFont typeface="Arial"/>
                <a:buChar char="⚬"/>
              </a:pPr>
              <a:r>
                <a:rPr lang="en-US" sz="3000">
                  <a:solidFill>
                    <a:srgbClr val="FFFFFF"/>
                  </a:solidFill>
                  <a:latin typeface="Calibri (MS)"/>
                  <a:ea typeface="Calibri (MS)"/>
                  <a:cs typeface="Calibri (MS)"/>
                  <a:sym typeface="Calibri (MS)"/>
                </a:rPr>
                <a:t>Funciones desempeñadas</a:t>
              </a:r>
            </a:p>
          </p:txBody>
        </p:sp>
      </p:grpSp>
      <p:grpSp>
        <p:nvGrpSpPr>
          <p:cNvPr name="Group 9" id="9"/>
          <p:cNvGrpSpPr/>
          <p:nvPr/>
        </p:nvGrpSpPr>
        <p:grpSpPr>
          <a:xfrm rot="0">
            <a:off x="6385470" y="2770160"/>
            <a:ext cx="2290047" cy="1631457"/>
            <a:chOff x="0" y="0"/>
            <a:chExt cx="3053396" cy="2175276"/>
          </a:xfrm>
        </p:grpSpPr>
        <p:sp>
          <p:nvSpPr>
            <p:cNvPr name="Freeform 10" id="10"/>
            <p:cNvSpPr/>
            <p:nvPr/>
          </p:nvSpPr>
          <p:spPr>
            <a:xfrm flipH="false" flipV="false" rot="0">
              <a:off x="0" y="0"/>
              <a:ext cx="3053461" cy="2175256"/>
            </a:xfrm>
            <a:custGeom>
              <a:avLst/>
              <a:gdLst/>
              <a:ahLst/>
              <a:cxnLst/>
              <a:rect r="r" b="b" t="t" l="l"/>
              <a:pathLst>
                <a:path h="2175256" w="3053461">
                  <a:moveTo>
                    <a:pt x="0" y="217551"/>
                  </a:moveTo>
                  <a:cubicBezTo>
                    <a:pt x="0" y="97409"/>
                    <a:pt x="97409" y="0"/>
                    <a:pt x="217551" y="0"/>
                  </a:cubicBezTo>
                  <a:lnTo>
                    <a:pt x="2835910" y="0"/>
                  </a:lnTo>
                  <a:cubicBezTo>
                    <a:pt x="2956052" y="0"/>
                    <a:pt x="3053461" y="97409"/>
                    <a:pt x="3053461" y="217551"/>
                  </a:cubicBezTo>
                  <a:lnTo>
                    <a:pt x="3053461" y="1957705"/>
                  </a:lnTo>
                  <a:cubicBezTo>
                    <a:pt x="3053461" y="2077847"/>
                    <a:pt x="2956052" y="2175256"/>
                    <a:pt x="2835910" y="2175256"/>
                  </a:cubicBezTo>
                  <a:lnTo>
                    <a:pt x="217551" y="2175256"/>
                  </a:lnTo>
                  <a:cubicBezTo>
                    <a:pt x="97409" y="2175256"/>
                    <a:pt x="0" y="2077847"/>
                    <a:pt x="0" y="1957705"/>
                  </a:cubicBezTo>
                  <a:close/>
                </a:path>
              </a:pathLst>
            </a:custGeom>
            <a:solidFill>
              <a:srgbClr val="C4D5EB"/>
            </a:solidFill>
            <a:ln w="12700">
              <a:solidFill>
                <a:srgbClr val="000000"/>
              </a:solidFill>
            </a:ln>
          </p:spPr>
        </p:sp>
      </p:grpSp>
      <p:grpSp>
        <p:nvGrpSpPr>
          <p:cNvPr name="Group 11" id="11"/>
          <p:cNvGrpSpPr/>
          <p:nvPr/>
        </p:nvGrpSpPr>
        <p:grpSpPr>
          <a:xfrm rot="0">
            <a:off x="6181539" y="4809482"/>
            <a:ext cx="11450241" cy="2039322"/>
            <a:chOff x="0" y="0"/>
            <a:chExt cx="15266988" cy="2719096"/>
          </a:xfrm>
        </p:grpSpPr>
        <p:sp>
          <p:nvSpPr>
            <p:cNvPr name="Freeform 12" id="12"/>
            <p:cNvSpPr/>
            <p:nvPr/>
          </p:nvSpPr>
          <p:spPr>
            <a:xfrm flipH="false" flipV="false" rot="0">
              <a:off x="0" y="0"/>
              <a:ext cx="15266924" cy="2719070"/>
            </a:xfrm>
            <a:custGeom>
              <a:avLst/>
              <a:gdLst/>
              <a:ahLst/>
              <a:cxnLst/>
              <a:rect r="r" b="b" t="t" l="l"/>
              <a:pathLst>
                <a:path h="2719070" w="15266924">
                  <a:moveTo>
                    <a:pt x="0" y="271907"/>
                  </a:moveTo>
                  <a:cubicBezTo>
                    <a:pt x="0" y="121793"/>
                    <a:pt x="121793" y="0"/>
                    <a:pt x="271907" y="0"/>
                  </a:cubicBezTo>
                  <a:lnTo>
                    <a:pt x="14995018" y="0"/>
                  </a:lnTo>
                  <a:cubicBezTo>
                    <a:pt x="15145131" y="0"/>
                    <a:pt x="15266924" y="121793"/>
                    <a:pt x="15266924" y="271907"/>
                  </a:cubicBezTo>
                  <a:lnTo>
                    <a:pt x="15266924" y="2447163"/>
                  </a:lnTo>
                  <a:cubicBezTo>
                    <a:pt x="15266924" y="2597277"/>
                    <a:pt x="15145131" y="2719070"/>
                    <a:pt x="14995018" y="2719070"/>
                  </a:cubicBezTo>
                  <a:lnTo>
                    <a:pt x="271907" y="2719070"/>
                  </a:lnTo>
                  <a:cubicBezTo>
                    <a:pt x="121793" y="2719070"/>
                    <a:pt x="0" y="2597404"/>
                    <a:pt x="0" y="2447163"/>
                  </a:cubicBezTo>
                  <a:close/>
                </a:path>
              </a:pathLst>
            </a:custGeom>
            <a:gradFill rotWithShape="true">
              <a:gsLst>
                <a:gs pos="0">
                  <a:srgbClr val="72A7DB">
                    <a:alpha val="100000"/>
                  </a:srgbClr>
                </a:gs>
                <a:gs pos="50000">
                  <a:srgbClr val="559BDB">
                    <a:alpha val="100000"/>
                  </a:srgbClr>
                </a:gs>
                <a:gs pos="100000">
                  <a:srgbClr val="448AC9">
                    <a:alpha val="100000"/>
                  </a:srgbClr>
                </a:gs>
              </a:gsLst>
              <a:lin ang="5400000"/>
            </a:gradFill>
          </p:spPr>
        </p:sp>
      </p:grpSp>
      <p:grpSp>
        <p:nvGrpSpPr>
          <p:cNvPr name="Group 13" id="13"/>
          <p:cNvGrpSpPr/>
          <p:nvPr/>
        </p:nvGrpSpPr>
        <p:grpSpPr>
          <a:xfrm rot="0">
            <a:off x="8670756" y="4804719"/>
            <a:ext cx="8965785" cy="1603248"/>
            <a:chOff x="0" y="0"/>
            <a:chExt cx="11954380" cy="2137664"/>
          </a:xfrm>
        </p:grpSpPr>
        <p:sp>
          <p:nvSpPr>
            <p:cNvPr name="Freeform 14" id="14"/>
            <p:cNvSpPr/>
            <p:nvPr/>
          </p:nvSpPr>
          <p:spPr>
            <a:xfrm flipH="false" flipV="false" rot="0">
              <a:off x="0" y="0"/>
              <a:ext cx="11954380" cy="2137664"/>
            </a:xfrm>
            <a:custGeom>
              <a:avLst/>
              <a:gdLst/>
              <a:ahLst/>
              <a:cxnLst/>
              <a:rect r="r" b="b" t="t" l="l"/>
              <a:pathLst>
                <a:path h="2137664" w="11954380">
                  <a:moveTo>
                    <a:pt x="0" y="0"/>
                  </a:moveTo>
                  <a:lnTo>
                    <a:pt x="11954380" y="0"/>
                  </a:lnTo>
                  <a:lnTo>
                    <a:pt x="11954380" y="2137664"/>
                  </a:lnTo>
                  <a:lnTo>
                    <a:pt x="0" y="2137664"/>
                  </a:lnTo>
                  <a:lnTo>
                    <a:pt x="0" y="0"/>
                  </a:lnTo>
                  <a:close/>
                </a:path>
              </a:pathLst>
            </a:custGeom>
            <a:blipFill>
              <a:blip r:embed="rId3">
                <a:extLst>
                  <a:ext uri="{96DAC541-7B7A-43D3-8B79-37D633B846F1}">
                    <asvg:svgBlip xmlns:asvg="http://schemas.microsoft.com/office/drawing/2016/SVG/main" r:embed="rId4"/>
                  </a:ext>
                </a:extLst>
              </a:blip>
              <a:stretch>
                <a:fillRect l="0" t="-13896" r="0" b="-13896"/>
              </a:stretch>
            </a:blipFill>
          </p:spPr>
        </p:sp>
        <p:sp>
          <p:nvSpPr>
            <p:cNvPr name="TextBox 15" id="15"/>
            <p:cNvSpPr txBox="true"/>
            <p:nvPr/>
          </p:nvSpPr>
          <p:spPr>
            <a:xfrm rot="0">
              <a:off x="132080" y="93980"/>
              <a:ext cx="11690220" cy="1911604"/>
            </a:xfrm>
            <a:prstGeom prst="rect">
              <a:avLst/>
            </a:prstGeom>
          </p:spPr>
          <p:txBody>
            <a:bodyPr anchor="t" rtlCol="false" tIns="0" lIns="0" bIns="0" rIns="0">
              <a:spAutoFit/>
            </a:bodyPr>
            <a:lstStyle/>
            <a:p>
              <a:pPr algn="l">
                <a:lnSpc>
                  <a:spcPts val="4212"/>
                </a:lnSpc>
              </a:pPr>
              <a:r>
                <a:rPr lang="en-US" sz="3900">
                  <a:solidFill>
                    <a:srgbClr val="FFFFFF"/>
                  </a:solidFill>
                  <a:latin typeface="Calibri (MS)"/>
                  <a:ea typeface="Calibri (MS)"/>
                  <a:cs typeface="Calibri (MS)"/>
                  <a:sym typeface="Calibri (MS)"/>
                </a:rPr>
                <a:t>Adami Benjamín Berríos Montecinos</a:t>
              </a:r>
            </a:p>
            <a:p>
              <a:pPr algn="l" marL="542925" indent="-180975" lvl="2">
                <a:lnSpc>
                  <a:spcPts val="3240"/>
                </a:lnSpc>
                <a:buFont typeface="Arial"/>
                <a:buChar char="⚬"/>
              </a:pPr>
              <a:r>
                <a:rPr lang="en-US" sz="3000">
                  <a:solidFill>
                    <a:srgbClr val="FFFFFF"/>
                  </a:solidFill>
                  <a:latin typeface="Calibri (MS)"/>
                  <a:ea typeface="Calibri (MS)"/>
                  <a:cs typeface="Calibri (MS)"/>
                  <a:sym typeface="Calibri (MS)"/>
                </a:rPr>
                <a:t>Product Owner</a:t>
              </a:r>
            </a:p>
            <a:p>
              <a:pPr algn="l" marL="542925" indent="-180975" lvl="2">
                <a:lnSpc>
                  <a:spcPts val="3240"/>
                </a:lnSpc>
                <a:buFont typeface="Arial"/>
                <a:buChar char="⚬"/>
              </a:pPr>
              <a:r>
                <a:rPr lang="en-US" sz="3000">
                  <a:solidFill>
                    <a:srgbClr val="FFFFFF"/>
                  </a:solidFill>
                  <a:latin typeface="Calibri (MS)"/>
                  <a:ea typeface="Calibri (MS)"/>
                  <a:cs typeface="Calibri (MS)"/>
                  <a:sym typeface="Calibri (MS)"/>
                </a:rPr>
                <a:t>Desarrollador</a:t>
              </a:r>
            </a:p>
          </p:txBody>
        </p:sp>
      </p:grpSp>
      <p:grpSp>
        <p:nvGrpSpPr>
          <p:cNvPr name="Group 16" id="16"/>
          <p:cNvGrpSpPr/>
          <p:nvPr/>
        </p:nvGrpSpPr>
        <p:grpSpPr>
          <a:xfrm rot="0">
            <a:off x="6385470" y="5013414"/>
            <a:ext cx="2290047" cy="1631457"/>
            <a:chOff x="0" y="0"/>
            <a:chExt cx="3053396" cy="2175276"/>
          </a:xfrm>
        </p:grpSpPr>
        <p:sp>
          <p:nvSpPr>
            <p:cNvPr name="Freeform 17" id="17"/>
            <p:cNvSpPr/>
            <p:nvPr/>
          </p:nvSpPr>
          <p:spPr>
            <a:xfrm flipH="false" flipV="false" rot="0">
              <a:off x="0" y="0"/>
              <a:ext cx="3053461" cy="2175256"/>
            </a:xfrm>
            <a:custGeom>
              <a:avLst/>
              <a:gdLst/>
              <a:ahLst/>
              <a:cxnLst/>
              <a:rect r="r" b="b" t="t" l="l"/>
              <a:pathLst>
                <a:path h="2175256" w="3053461">
                  <a:moveTo>
                    <a:pt x="0" y="217551"/>
                  </a:moveTo>
                  <a:cubicBezTo>
                    <a:pt x="0" y="97409"/>
                    <a:pt x="97409" y="0"/>
                    <a:pt x="217551" y="0"/>
                  </a:cubicBezTo>
                  <a:lnTo>
                    <a:pt x="2835910" y="0"/>
                  </a:lnTo>
                  <a:cubicBezTo>
                    <a:pt x="2956052" y="0"/>
                    <a:pt x="3053461" y="97409"/>
                    <a:pt x="3053461" y="217551"/>
                  </a:cubicBezTo>
                  <a:lnTo>
                    <a:pt x="3053461" y="1957705"/>
                  </a:lnTo>
                  <a:cubicBezTo>
                    <a:pt x="3053461" y="2077847"/>
                    <a:pt x="2956052" y="2175256"/>
                    <a:pt x="2835910" y="2175256"/>
                  </a:cubicBezTo>
                  <a:lnTo>
                    <a:pt x="217551" y="2175256"/>
                  </a:lnTo>
                  <a:cubicBezTo>
                    <a:pt x="97409" y="2175256"/>
                    <a:pt x="0" y="2077847"/>
                    <a:pt x="0" y="1957705"/>
                  </a:cubicBezTo>
                  <a:close/>
                </a:path>
              </a:pathLst>
            </a:custGeom>
            <a:solidFill>
              <a:srgbClr val="C4D5EB"/>
            </a:solidFill>
            <a:ln w="12700">
              <a:solidFill>
                <a:srgbClr val="000000"/>
              </a:solidFill>
            </a:ln>
          </p:spPr>
        </p:sp>
      </p:grpSp>
      <p:grpSp>
        <p:nvGrpSpPr>
          <p:cNvPr name="Group 18" id="18"/>
          <p:cNvGrpSpPr/>
          <p:nvPr/>
        </p:nvGrpSpPr>
        <p:grpSpPr>
          <a:xfrm rot="0">
            <a:off x="6181539" y="7052736"/>
            <a:ext cx="11450241" cy="2039322"/>
            <a:chOff x="0" y="0"/>
            <a:chExt cx="15266988" cy="2719096"/>
          </a:xfrm>
        </p:grpSpPr>
        <p:sp>
          <p:nvSpPr>
            <p:cNvPr name="Freeform 19" id="19"/>
            <p:cNvSpPr/>
            <p:nvPr/>
          </p:nvSpPr>
          <p:spPr>
            <a:xfrm flipH="false" flipV="false" rot="0">
              <a:off x="0" y="0"/>
              <a:ext cx="15266924" cy="2719070"/>
            </a:xfrm>
            <a:custGeom>
              <a:avLst/>
              <a:gdLst/>
              <a:ahLst/>
              <a:cxnLst/>
              <a:rect r="r" b="b" t="t" l="l"/>
              <a:pathLst>
                <a:path h="2719070" w="15266924">
                  <a:moveTo>
                    <a:pt x="0" y="271907"/>
                  </a:moveTo>
                  <a:cubicBezTo>
                    <a:pt x="0" y="121793"/>
                    <a:pt x="121793" y="0"/>
                    <a:pt x="271907" y="0"/>
                  </a:cubicBezTo>
                  <a:lnTo>
                    <a:pt x="14995018" y="0"/>
                  </a:lnTo>
                  <a:cubicBezTo>
                    <a:pt x="15145131" y="0"/>
                    <a:pt x="15266924" y="121793"/>
                    <a:pt x="15266924" y="271907"/>
                  </a:cubicBezTo>
                  <a:lnTo>
                    <a:pt x="15266924" y="2447163"/>
                  </a:lnTo>
                  <a:cubicBezTo>
                    <a:pt x="15266924" y="2597277"/>
                    <a:pt x="15145131" y="2719070"/>
                    <a:pt x="14995018" y="2719070"/>
                  </a:cubicBezTo>
                  <a:lnTo>
                    <a:pt x="271907" y="2719070"/>
                  </a:lnTo>
                  <a:cubicBezTo>
                    <a:pt x="121793" y="2719070"/>
                    <a:pt x="0" y="2597404"/>
                    <a:pt x="0" y="2447163"/>
                  </a:cubicBezTo>
                  <a:close/>
                </a:path>
              </a:pathLst>
            </a:custGeom>
            <a:gradFill rotWithShape="true">
              <a:gsLst>
                <a:gs pos="0">
                  <a:srgbClr val="72A7DB">
                    <a:alpha val="100000"/>
                  </a:srgbClr>
                </a:gs>
                <a:gs pos="50000">
                  <a:srgbClr val="559BDB">
                    <a:alpha val="100000"/>
                  </a:srgbClr>
                </a:gs>
                <a:gs pos="100000">
                  <a:srgbClr val="448AC9">
                    <a:alpha val="100000"/>
                  </a:srgbClr>
                </a:gs>
              </a:gsLst>
              <a:lin ang="5400000"/>
            </a:gradFill>
          </p:spPr>
        </p:sp>
      </p:grpSp>
      <p:grpSp>
        <p:nvGrpSpPr>
          <p:cNvPr name="Group 20" id="20"/>
          <p:cNvGrpSpPr/>
          <p:nvPr/>
        </p:nvGrpSpPr>
        <p:grpSpPr>
          <a:xfrm rot="0">
            <a:off x="8670756" y="7047973"/>
            <a:ext cx="8965785" cy="1603248"/>
            <a:chOff x="0" y="0"/>
            <a:chExt cx="11954380" cy="2137664"/>
          </a:xfrm>
        </p:grpSpPr>
        <p:sp>
          <p:nvSpPr>
            <p:cNvPr name="Freeform 21" id="21"/>
            <p:cNvSpPr/>
            <p:nvPr/>
          </p:nvSpPr>
          <p:spPr>
            <a:xfrm flipH="false" flipV="false" rot="0">
              <a:off x="0" y="0"/>
              <a:ext cx="11954380" cy="2137664"/>
            </a:xfrm>
            <a:custGeom>
              <a:avLst/>
              <a:gdLst/>
              <a:ahLst/>
              <a:cxnLst/>
              <a:rect r="r" b="b" t="t" l="l"/>
              <a:pathLst>
                <a:path h="2137664" w="11954380">
                  <a:moveTo>
                    <a:pt x="0" y="0"/>
                  </a:moveTo>
                  <a:lnTo>
                    <a:pt x="11954380" y="0"/>
                  </a:lnTo>
                  <a:lnTo>
                    <a:pt x="11954380" y="2137664"/>
                  </a:lnTo>
                  <a:lnTo>
                    <a:pt x="0" y="2137664"/>
                  </a:lnTo>
                  <a:lnTo>
                    <a:pt x="0" y="0"/>
                  </a:lnTo>
                  <a:close/>
                </a:path>
              </a:pathLst>
            </a:custGeom>
            <a:blipFill>
              <a:blip r:embed="rId3">
                <a:extLst>
                  <a:ext uri="{96DAC541-7B7A-43D3-8B79-37D633B846F1}">
                    <asvg:svgBlip xmlns:asvg="http://schemas.microsoft.com/office/drawing/2016/SVG/main" r:embed="rId4"/>
                  </a:ext>
                </a:extLst>
              </a:blip>
              <a:stretch>
                <a:fillRect l="0" t="-13896" r="0" b="-13896"/>
              </a:stretch>
            </a:blipFill>
          </p:spPr>
        </p:sp>
        <p:sp>
          <p:nvSpPr>
            <p:cNvPr name="TextBox 22" id="22"/>
            <p:cNvSpPr txBox="true"/>
            <p:nvPr/>
          </p:nvSpPr>
          <p:spPr>
            <a:xfrm rot="0">
              <a:off x="132080" y="93980"/>
              <a:ext cx="11690220" cy="1911604"/>
            </a:xfrm>
            <a:prstGeom prst="rect">
              <a:avLst/>
            </a:prstGeom>
          </p:spPr>
          <p:txBody>
            <a:bodyPr anchor="t" rtlCol="false" tIns="0" lIns="0" bIns="0" rIns="0">
              <a:spAutoFit/>
            </a:bodyPr>
            <a:lstStyle/>
            <a:p>
              <a:pPr algn="l">
                <a:lnSpc>
                  <a:spcPts val="4212"/>
                </a:lnSpc>
              </a:pPr>
              <a:r>
                <a:rPr lang="en-US" sz="3900">
                  <a:solidFill>
                    <a:srgbClr val="FFFFFF"/>
                  </a:solidFill>
                  <a:latin typeface="Calibri (MS)"/>
                  <a:ea typeface="Calibri (MS)"/>
                  <a:cs typeface="Calibri (MS)"/>
                  <a:sym typeface="Calibri (MS)"/>
                </a:rPr>
                <a:t>Hernán Jorge Garrido Garrido</a:t>
              </a:r>
            </a:p>
            <a:p>
              <a:pPr algn="l" marL="542925" indent="-180975" lvl="2">
                <a:lnSpc>
                  <a:spcPts val="3240"/>
                </a:lnSpc>
                <a:buFont typeface="Arial"/>
                <a:buChar char="⚬"/>
              </a:pPr>
              <a:r>
                <a:rPr lang="en-US" sz="3000">
                  <a:solidFill>
                    <a:srgbClr val="FFFFFF"/>
                  </a:solidFill>
                  <a:latin typeface="Calibri (MS)"/>
                  <a:ea typeface="Calibri (MS)"/>
                  <a:cs typeface="Calibri (MS)"/>
                  <a:sym typeface="Calibri (MS)"/>
                </a:rPr>
                <a:t>Líder de Desarrollo y Datos</a:t>
              </a:r>
            </a:p>
            <a:p>
              <a:pPr algn="l" marL="542925" indent="-180975" lvl="2">
                <a:lnSpc>
                  <a:spcPts val="3240"/>
                </a:lnSpc>
                <a:buFont typeface="Arial"/>
                <a:buChar char="⚬"/>
              </a:pPr>
              <a:r>
                <a:rPr lang="en-US" sz="3000">
                  <a:solidFill>
                    <a:srgbClr val="FFFFFF"/>
                  </a:solidFill>
                  <a:latin typeface="Calibri (MS)"/>
                  <a:ea typeface="Calibri (MS)"/>
                  <a:cs typeface="Calibri (MS)"/>
                  <a:sym typeface="Calibri (MS)"/>
                </a:rPr>
                <a:t>Análisis de Datos, Machine Learning</a:t>
              </a:r>
            </a:p>
          </p:txBody>
        </p:sp>
      </p:grpSp>
      <p:grpSp>
        <p:nvGrpSpPr>
          <p:cNvPr name="Group 23" id="23"/>
          <p:cNvGrpSpPr/>
          <p:nvPr/>
        </p:nvGrpSpPr>
        <p:grpSpPr>
          <a:xfrm rot="0">
            <a:off x="6385470" y="7256668"/>
            <a:ext cx="2290047" cy="1631457"/>
            <a:chOff x="0" y="0"/>
            <a:chExt cx="3053396" cy="2175276"/>
          </a:xfrm>
        </p:grpSpPr>
        <p:sp>
          <p:nvSpPr>
            <p:cNvPr name="Freeform 24" id="24"/>
            <p:cNvSpPr/>
            <p:nvPr/>
          </p:nvSpPr>
          <p:spPr>
            <a:xfrm flipH="false" flipV="false" rot="0">
              <a:off x="0" y="0"/>
              <a:ext cx="3053461" cy="2175256"/>
            </a:xfrm>
            <a:custGeom>
              <a:avLst/>
              <a:gdLst/>
              <a:ahLst/>
              <a:cxnLst/>
              <a:rect r="r" b="b" t="t" l="l"/>
              <a:pathLst>
                <a:path h="2175256" w="3053461">
                  <a:moveTo>
                    <a:pt x="0" y="217551"/>
                  </a:moveTo>
                  <a:cubicBezTo>
                    <a:pt x="0" y="97409"/>
                    <a:pt x="97409" y="0"/>
                    <a:pt x="217551" y="0"/>
                  </a:cubicBezTo>
                  <a:lnTo>
                    <a:pt x="2835910" y="0"/>
                  </a:lnTo>
                  <a:cubicBezTo>
                    <a:pt x="2956052" y="0"/>
                    <a:pt x="3053461" y="97409"/>
                    <a:pt x="3053461" y="217551"/>
                  </a:cubicBezTo>
                  <a:lnTo>
                    <a:pt x="3053461" y="1957705"/>
                  </a:lnTo>
                  <a:cubicBezTo>
                    <a:pt x="3053461" y="2077847"/>
                    <a:pt x="2956052" y="2175256"/>
                    <a:pt x="2835910" y="2175256"/>
                  </a:cubicBezTo>
                  <a:lnTo>
                    <a:pt x="217551" y="2175256"/>
                  </a:lnTo>
                  <a:cubicBezTo>
                    <a:pt x="97409" y="2175256"/>
                    <a:pt x="0" y="2077847"/>
                    <a:pt x="0" y="1957705"/>
                  </a:cubicBezTo>
                  <a:close/>
                </a:path>
              </a:pathLst>
            </a:custGeom>
            <a:solidFill>
              <a:srgbClr val="C4D5EB"/>
            </a:solidFill>
            <a:ln w="12700">
              <a:solidFill>
                <a:srgbClr val="000000"/>
              </a:solidFill>
            </a:ln>
          </p:spPr>
        </p:sp>
      </p:grpSp>
      <p:sp>
        <p:nvSpPr>
          <p:cNvPr name="TextBox 25" id="25"/>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26" id="26"/>
          <p:cNvSpPr txBox="true"/>
          <p:nvPr/>
        </p:nvSpPr>
        <p:spPr>
          <a:xfrm rot="0">
            <a:off x="448930" y="4519344"/>
            <a:ext cx="5230562" cy="1823354"/>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INTEGRANTES DEL PROYECTO</a:t>
            </a:r>
          </a:p>
        </p:txBody>
      </p:sp>
      <p:sp>
        <p:nvSpPr>
          <p:cNvPr name="AutoShape 27" id="27"/>
          <p:cNvSpPr/>
          <p:nvPr/>
        </p:nvSpPr>
        <p:spPr>
          <a:xfrm rot="13305">
            <a:off x="-11929" y="1137040"/>
            <a:ext cx="6152284" cy="0"/>
          </a:xfrm>
          <a:prstGeom prst="line">
            <a:avLst/>
          </a:prstGeom>
          <a:ln cap="rnd" w="9525">
            <a:solidFill>
              <a:srgbClr val="000000"/>
            </a:solidFill>
            <a:prstDash val="solid"/>
            <a:headEnd type="none" len="sm" w="sm"/>
            <a:tailEnd type="none" len="sm" w="sm"/>
          </a:ln>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TextBox 4" id="4"/>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5" id="5"/>
          <p:cNvSpPr txBox="true"/>
          <p:nvPr/>
        </p:nvSpPr>
        <p:spPr>
          <a:xfrm rot="0">
            <a:off x="91440" y="1627694"/>
            <a:ext cx="18105118" cy="992357"/>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DESCRIPCIÓN DEL PROYECTO</a:t>
            </a:r>
          </a:p>
        </p:txBody>
      </p:sp>
      <p:sp>
        <p:nvSpPr>
          <p:cNvPr name="AutoShape 6" id="6"/>
          <p:cNvSpPr/>
          <p:nvPr/>
        </p:nvSpPr>
        <p:spPr>
          <a:xfrm rot="13305">
            <a:off x="-11929" y="1137040"/>
            <a:ext cx="6152284" cy="0"/>
          </a:xfrm>
          <a:prstGeom prst="line">
            <a:avLst/>
          </a:prstGeom>
          <a:ln cap="rnd" w="9525">
            <a:solidFill>
              <a:srgbClr val="000000"/>
            </a:solidFill>
            <a:prstDash val="solid"/>
            <a:headEnd type="none" len="sm" w="sm"/>
            <a:tailEnd type="none" len="sm" w="sm"/>
          </a:ln>
        </p:spPr>
      </p:sp>
      <p:grpSp>
        <p:nvGrpSpPr>
          <p:cNvPr name="Group 7" id="7"/>
          <p:cNvGrpSpPr/>
          <p:nvPr/>
        </p:nvGrpSpPr>
        <p:grpSpPr>
          <a:xfrm rot="0">
            <a:off x="1062839" y="3245128"/>
            <a:ext cx="6542107" cy="6157952"/>
            <a:chOff x="0" y="0"/>
            <a:chExt cx="8722810" cy="8210602"/>
          </a:xfrm>
        </p:grpSpPr>
        <p:sp>
          <p:nvSpPr>
            <p:cNvPr name="Freeform 8" id="8"/>
            <p:cNvSpPr/>
            <p:nvPr/>
          </p:nvSpPr>
          <p:spPr>
            <a:xfrm flipH="false" flipV="false" rot="0">
              <a:off x="12700" y="12700"/>
              <a:ext cx="8697468" cy="8185277"/>
            </a:xfrm>
            <a:custGeom>
              <a:avLst/>
              <a:gdLst/>
              <a:ahLst/>
              <a:cxnLst/>
              <a:rect r="r" b="b" t="t" l="l"/>
              <a:pathLst>
                <a:path h="8185277" w="8697468">
                  <a:moveTo>
                    <a:pt x="0" y="892302"/>
                  </a:moveTo>
                  <a:cubicBezTo>
                    <a:pt x="0" y="399542"/>
                    <a:pt x="399542" y="0"/>
                    <a:pt x="892429" y="0"/>
                  </a:cubicBezTo>
                  <a:lnTo>
                    <a:pt x="7805039" y="0"/>
                  </a:lnTo>
                  <a:cubicBezTo>
                    <a:pt x="8297926" y="0"/>
                    <a:pt x="8697468" y="399542"/>
                    <a:pt x="8697468" y="892302"/>
                  </a:cubicBezTo>
                  <a:lnTo>
                    <a:pt x="8697468" y="7292975"/>
                  </a:lnTo>
                  <a:cubicBezTo>
                    <a:pt x="8697468" y="7785735"/>
                    <a:pt x="8297926" y="8185277"/>
                    <a:pt x="7805039" y="8185277"/>
                  </a:cubicBezTo>
                  <a:lnTo>
                    <a:pt x="892429" y="8185277"/>
                  </a:lnTo>
                  <a:cubicBezTo>
                    <a:pt x="399542" y="8185150"/>
                    <a:pt x="0" y="7785735"/>
                    <a:pt x="0" y="7292975"/>
                  </a:cubicBezTo>
                  <a:close/>
                </a:path>
              </a:pathLst>
            </a:custGeom>
            <a:solidFill>
              <a:srgbClr val="FFFFFF"/>
            </a:solidFill>
            <a:ln w="12700">
              <a:solidFill>
                <a:srgbClr val="000000"/>
              </a:solidFill>
            </a:ln>
          </p:spPr>
        </p:sp>
        <p:sp>
          <p:nvSpPr>
            <p:cNvPr name="Freeform 9" id="9"/>
            <p:cNvSpPr/>
            <p:nvPr/>
          </p:nvSpPr>
          <p:spPr>
            <a:xfrm flipH="false" flipV="false" rot="0">
              <a:off x="0" y="0"/>
              <a:ext cx="8722868" cy="8210677"/>
            </a:xfrm>
            <a:custGeom>
              <a:avLst/>
              <a:gdLst/>
              <a:ahLst/>
              <a:cxnLst/>
              <a:rect r="r" b="b" t="t" l="l"/>
              <a:pathLst>
                <a:path h="8210677" w="8722868">
                  <a:moveTo>
                    <a:pt x="0" y="905002"/>
                  </a:moveTo>
                  <a:cubicBezTo>
                    <a:pt x="0" y="405130"/>
                    <a:pt x="405257" y="0"/>
                    <a:pt x="905129" y="0"/>
                  </a:cubicBezTo>
                  <a:lnTo>
                    <a:pt x="7817739" y="0"/>
                  </a:lnTo>
                  <a:lnTo>
                    <a:pt x="7817739" y="12700"/>
                  </a:lnTo>
                  <a:lnTo>
                    <a:pt x="7817739" y="0"/>
                  </a:lnTo>
                  <a:cubicBezTo>
                    <a:pt x="8317611" y="0"/>
                    <a:pt x="8722868" y="405130"/>
                    <a:pt x="8722868" y="905002"/>
                  </a:cubicBezTo>
                  <a:lnTo>
                    <a:pt x="8710168" y="905002"/>
                  </a:lnTo>
                  <a:lnTo>
                    <a:pt x="8722868" y="905002"/>
                  </a:lnTo>
                  <a:lnTo>
                    <a:pt x="8722868" y="7305675"/>
                  </a:lnTo>
                  <a:lnTo>
                    <a:pt x="8710168" y="7305675"/>
                  </a:lnTo>
                  <a:lnTo>
                    <a:pt x="8722868" y="7305675"/>
                  </a:lnTo>
                  <a:cubicBezTo>
                    <a:pt x="8722868" y="7805420"/>
                    <a:pt x="8317611" y="8210677"/>
                    <a:pt x="7817739" y="8210677"/>
                  </a:cubicBezTo>
                  <a:lnTo>
                    <a:pt x="7817739" y="8197977"/>
                  </a:lnTo>
                  <a:lnTo>
                    <a:pt x="7817739" y="8210677"/>
                  </a:lnTo>
                  <a:lnTo>
                    <a:pt x="905129" y="8210677"/>
                  </a:lnTo>
                  <a:lnTo>
                    <a:pt x="905129" y="8197977"/>
                  </a:lnTo>
                  <a:lnTo>
                    <a:pt x="905129" y="8210677"/>
                  </a:lnTo>
                  <a:cubicBezTo>
                    <a:pt x="405257" y="8210550"/>
                    <a:pt x="0" y="7805420"/>
                    <a:pt x="0" y="7305675"/>
                  </a:cubicBezTo>
                  <a:lnTo>
                    <a:pt x="0" y="905002"/>
                  </a:lnTo>
                  <a:lnTo>
                    <a:pt x="12700" y="905002"/>
                  </a:lnTo>
                  <a:lnTo>
                    <a:pt x="0" y="905002"/>
                  </a:lnTo>
                  <a:moveTo>
                    <a:pt x="25400" y="905002"/>
                  </a:moveTo>
                  <a:lnTo>
                    <a:pt x="25400" y="7305675"/>
                  </a:lnTo>
                  <a:lnTo>
                    <a:pt x="12700" y="7305675"/>
                  </a:lnTo>
                  <a:lnTo>
                    <a:pt x="25400" y="7305675"/>
                  </a:lnTo>
                  <a:cubicBezTo>
                    <a:pt x="25400" y="7791450"/>
                    <a:pt x="419227" y="8185150"/>
                    <a:pt x="905129" y="8185150"/>
                  </a:cubicBezTo>
                  <a:lnTo>
                    <a:pt x="7817739" y="8185150"/>
                  </a:lnTo>
                  <a:cubicBezTo>
                    <a:pt x="8303640" y="8185150"/>
                    <a:pt x="8697468" y="7791323"/>
                    <a:pt x="8697468" y="7305548"/>
                  </a:cubicBezTo>
                  <a:lnTo>
                    <a:pt x="8697468" y="905002"/>
                  </a:lnTo>
                  <a:cubicBezTo>
                    <a:pt x="8697468" y="419227"/>
                    <a:pt x="8303514" y="25400"/>
                    <a:pt x="7817739" y="25400"/>
                  </a:cubicBezTo>
                  <a:lnTo>
                    <a:pt x="905129" y="25400"/>
                  </a:lnTo>
                  <a:lnTo>
                    <a:pt x="905129" y="12700"/>
                  </a:lnTo>
                  <a:lnTo>
                    <a:pt x="905129" y="25400"/>
                  </a:lnTo>
                  <a:cubicBezTo>
                    <a:pt x="419227" y="25400"/>
                    <a:pt x="25400" y="419227"/>
                    <a:pt x="25400" y="905002"/>
                  </a:cubicBezTo>
                  <a:close/>
                </a:path>
              </a:pathLst>
            </a:custGeom>
            <a:solidFill>
              <a:srgbClr val="4472C4"/>
            </a:solidFill>
            <a:ln w="12700">
              <a:solidFill>
                <a:srgbClr val="000000"/>
              </a:solidFill>
            </a:ln>
          </p:spPr>
        </p:sp>
        <p:sp>
          <p:nvSpPr>
            <p:cNvPr name="TextBox 10" id="10"/>
            <p:cNvSpPr txBox="true"/>
            <p:nvPr/>
          </p:nvSpPr>
          <p:spPr>
            <a:xfrm>
              <a:off x="0" y="0"/>
              <a:ext cx="8722810" cy="8210602"/>
            </a:xfrm>
            <a:prstGeom prst="rect">
              <a:avLst/>
            </a:prstGeom>
          </p:spPr>
          <p:txBody>
            <a:bodyPr anchor="t" rtlCol="false" tIns="50800" lIns="50800" bIns="50800" rIns="50800"/>
            <a:lstStyle/>
            <a:p>
              <a:pPr algn="ctr">
                <a:lnSpc>
                  <a:spcPts val="5040"/>
                </a:lnSpc>
              </a:pPr>
              <a:r>
                <a:rPr lang="en-US" sz="4200" u="sng">
                  <a:solidFill>
                    <a:srgbClr val="000000"/>
                  </a:solidFill>
                  <a:latin typeface="Canva Sans"/>
                  <a:ea typeface="Canva Sans"/>
                  <a:cs typeface="Canva Sans"/>
                  <a:sym typeface="Canva Sans"/>
                </a:rPr>
                <a:t>Necesidad</a:t>
              </a:r>
            </a:p>
            <a:p>
              <a:pPr algn="just">
                <a:lnSpc>
                  <a:spcPts val="3240"/>
                </a:lnSpc>
              </a:pPr>
            </a:p>
            <a:p>
              <a:pPr algn="just">
                <a:lnSpc>
                  <a:spcPts val="3240"/>
                </a:lnSpc>
              </a:pPr>
            </a:p>
            <a:p>
              <a:pPr algn="just">
                <a:lnSpc>
                  <a:spcPts val="2400"/>
                </a:lnSpc>
              </a:pPr>
              <a:r>
                <a:rPr lang="en-US" sz="2000">
                  <a:solidFill>
                    <a:srgbClr val="000000"/>
                  </a:solidFill>
                  <a:latin typeface="Canva Sans"/>
                  <a:ea typeface="Canva Sans"/>
                  <a:cs typeface="Canva Sans"/>
                  <a:sym typeface="Canva Sans"/>
                </a:rPr>
                <a:t>La empresa Axis se encuentra en la necesidad de analizar los datos de producción baños modulares con el fin de visualizar información que permita tomar decisiones informadas en pos de la mejora continua de sus procesos. Presenta una gestión ineficiente de los tiempos de producción de baños modulares debido al uso de planillas manuales en Google Sheets, lo que provoca errores, duplicidad de datos y baja trazabilidad, afectando el control operativo y la toma de decisiones.</a:t>
              </a:r>
            </a:p>
          </p:txBody>
        </p:sp>
      </p:grpSp>
      <p:grpSp>
        <p:nvGrpSpPr>
          <p:cNvPr name="Group 11" id="11"/>
          <p:cNvGrpSpPr/>
          <p:nvPr/>
        </p:nvGrpSpPr>
        <p:grpSpPr>
          <a:xfrm rot="0">
            <a:off x="10358593" y="3256463"/>
            <a:ext cx="6542107" cy="6157952"/>
            <a:chOff x="0" y="0"/>
            <a:chExt cx="8722810" cy="8210602"/>
          </a:xfrm>
        </p:grpSpPr>
        <p:sp>
          <p:nvSpPr>
            <p:cNvPr name="Freeform 12" id="12"/>
            <p:cNvSpPr/>
            <p:nvPr/>
          </p:nvSpPr>
          <p:spPr>
            <a:xfrm flipH="false" flipV="false" rot="0">
              <a:off x="12700" y="12700"/>
              <a:ext cx="8697468" cy="8185277"/>
            </a:xfrm>
            <a:custGeom>
              <a:avLst/>
              <a:gdLst/>
              <a:ahLst/>
              <a:cxnLst/>
              <a:rect r="r" b="b" t="t" l="l"/>
              <a:pathLst>
                <a:path h="8185277" w="8697468">
                  <a:moveTo>
                    <a:pt x="0" y="892302"/>
                  </a:moveTo>
                  <a:cubicBezTo>
                    <a:pt x="0" y="399542"/>
                    <a:pt x="399542" y="0"/>
                    <a:pt x="892429" y="0"/>
                  </a:cubicBezTo>
                  <a:lnTo>
                    <a:pt x="7805039" y="0"/>
                  </a:lnTo>
                  <a:cubicBezTo>
                    <a:pt x="8297926" y="0"/>
                    <a:pt x="8697468" y="399542"/>
                    <a:pt x="8697468" y="892302"/>
                  </a:cubicBezTo>
                  <a:lnTo>
                    <a:pt x="8697468" y="7292975"/>
                  </a:lnTo>
                  <a:cubicBezTo>
                    <a:pt x="8697468" y="7785735"/>
                    <a:pt x="8297926" y="8185277"/>
                    <a:pt x="7805039" y="8185277"/>
                  </a:cubicBezTo>
                  <a:lnTo>
                    <a:pt x="892429" y="8185277"/>
                  </a:lnTo>
                  <a:cubicBezTo>
                    <a:pt x="399542" y="8185150"/>
                    <a:pt x="0" y="7785735"/>
                    <a:pt x="0" y="7292975"/>
                  </a:cubicBezTo>
                  <a:close/>
                </a:path>
              </a:pathLst>
            </a:custGeom>
            <a:solidFill>
              <a:srgbClr val="FFFFFF"/>
            </a:solidFill>
            <a:ln w="12700">
              <a:solidFill>
                <a:srgbClr val="000000"/>
              </a:solidFill>
            </a:ln>
          </p:spPr>
        </p:sp>
        <p:sp>
          <p:nvSpPr>
            <p:cNvPr name="Freeform 13" id="13"/>
            <p:cNvSpPr/>
            <p:nvPr/>
          </p:nvSpPr>
          <p:spPr>
            <a:xfrm flipH="false" flipV="false" rot="0">
              <a:off x="0" y="0"/>
              <a:ext cx="8722868" cy="8210677"/>
            </a:xfrm>
            <a:custGeom>
              <a:avLst/>
              <a:gdLst/>
              <a:ahLst/>
              <a:cxnLst/>
              <a:rect r="r" b="b" t="t" l="l"/>
              <a:pathLst>
                <a:path h="8210677" w="8722868">
                  <a:moveTo>
                    <a:pt x="0" y="905002"/>
                  </a:moveTo>
                  <a:cubicBezTo>
                    <a:pt x="0" y="405130"/>
                    <a:pt x="405257" y="0"/>
                    <a:pt x="905129" y="0"/>
                  </a:cubicBezTo>
                  <a:lnTo>
                    <a:pt x="7817739" y="0"/>
                  </a:lnTo>
                  <a:lnTo>
                    <a:pt x="7817739" y="12700"/>
                  </a:lnTo>
                  <a:lnTo>
                    <a:pt x="7817739" y="0"/>
                  </a:lnTo>
                  <a:cubicBezTo>
                    <a:pt x="8317611" y="0"/>
                    <a:pt x="8722868" y="405130"/>
                    <a:pt x="8722868" y="905002"/>
                  </a:cubicBezTo>
                  <a:lnTo>
                    <a:pt x="8710168" y="905002"/>
                  </a:lnTo>
                  <a:lnTo>
                    <a:pt x="8722868" y="905002"/>
                  </a:lnTo>
                  <a:lnTo>
                    <a:pt x="8722868" y="7305675"/>
                  </a:lnTo>
                  <a:lnTo>
                    <a:pt x="8710168" y="7305675"/>
                  </a:lnTo>
                  <a:lnTo>
                    <a:pt x="8722868" y="7305675"/>
                  </a:lnTo>
                  <a:cubicBezTo>
                    <a:pt x="8722868" y="7805420"/>
                    <a:pt x="8317611" y="8210677"/>
                    <a:pt x="7817739" y="8210677"/>
                  </a:cubicBezTo>
                  <a:lnTo>
                    <a:pt x="7817739" y="8197977"/>
                  </a:lnTo>
                  <a:lnTo>
                    <a:pt x="7817739" y="8210677"/>
                  </a:lnTo>
                  <a:lnTo>
                    <a:pt x="905129" y="8210677"/>
                  </a:lnTo>
                  <a:lnTo>
                    <a:pt x="905129" y="8197977"/>
                  </a:lnTo>
                  <a:lnTo>
                    <a:pt x="905129" y="8210677"/>
                  </a:lnTo>
                  <a:cubicBezTo>
                    <a:pt x="405257" y="8210550"/>
                    <a:pt x="0" y="7805420"/>
                    <a:pt x="0" y="7305675"/>
                  </a:cubicBezTo>
                  <a:lnTo>
                    <a:pt x="0" y="905002"/>
                  </a:lnTo>
                  <a:lnTo>
                    <a:pt x="12700" y="905002"/>
                  </a:lnTo>
                  <a:lnTo>
                    <a:pt x="0" y="905002"/>
                  </a:lnTo>
                  <a:moveTo>
                    <a:pt x="25400" y="905002"/>
                  </a:moveTo>
                  <a:lnTo>
                    <a:pt x="25400" y="7305675"/>
                  </a:lnTo>
                  <a:lnTo>
                    <a:pt x="12700" y="7305675"/>
                  </a:lnTo>
                  <a:lnTo>
                    <a:pt x="25400" y="7305675"/>
                  </a:lnTo>
                  <a:cubicBezTo>
                    <a:pt x="25400" y="7791450"/>
                    <a:pt x="419227" y="8185150"/>
                    <a:pt x="905129" y="8185150"/>
                  </a:cubicBezTo>
                  <a:lnTo>
                    <a:pt x="7817739" y="8185150"/>
                  </a:lnTo>
                  <a:cubicBezTo>
                    <a:pt x="8303640" y="8185150"/>
                    <a:pt x="8697468" y="7791323"/>
                    <a:pt x="8697468" y="7305548"/>
                  </a:cubicBezTo>
                  <a:lnTo>
                    <a:pt x="8697468" y="905002"/>
                  </a:lnTo>
                  <a:cubicBezTo>
                    <a:pt x="8697468" y="419227"/>
                    <a:pt x="8303514" y="25400"/>
                    <a:pt x="7817739" y="25400"/>
                  </a:cubicBezTo>
                  <a:lnTo>
                    <a:pt x="905129" y="25400"/>
                  </a:lnTo>
                  <a:lnTo>
                    <a:pt x="905129" y="12700"/>
                  </a:lnTo>
                  <a:lnTo>
                    <a:pt x="905129" y="25400"/>
                  </a:lnTo>
                  <a:cubicBezTo>
                    <a:pt x="419227" y="25400"/>
                    <a:pt x="25400" y="419227"/>
                    <a:pt x="25400" y="905002"/>
                  </a:cubicBezTo>
                  <a:close/>
                </a:path>
              </a:pathLst>
            </a:custGeom>
            <a:solidFill>
              <a:srgbClr val="4472C4"/>
            </a:solidFill>
            <a:ln w="12700">
              <a:solidFill>
                <a:srgbClr val="000000"/>
              </a:solidFill>
            </a:ln>
          </p:spPr>
        </p:sp>
        <p:sp>
          <p:nvSpPr>
            <p:cNvPr name="TextBox 14" id="14"/>
            <p:cNvSpPr txBox="true"/>
            <p:nvPr/>
          </p:nvSpPr>
          <p:spPr>
            <a:xfrm>
              <a:off x="0" y="0"/>
              <a:ext cx="8722810" cy="8210602"/>
            </a:xfrm>
            <a:prstGeom prst="rect">
              <a:avLst/>
            </a:prstGeom>
          </p:spPr>
          <p:txBody>
            <a:bodyPr anchor="t" rtlCol="false" tIns="50800" lIns="50800" bIns="50800" rIns="50800"/>
            <a:lstStyle/>
            <a:p>
              <a:pPr algn="ctr">
                <a:lnSpc>
                  <a:spcPts val="5040"/>
                </a:lnSpc>
              </a:pPr>
              <a:r>
                <a:rPr lang="en-US" sz="4200" u="sng">
                  <a:solidFill>
                    <a:srgbClr val="000000"/>
                  </a:solidFill>
                  <a:latin typeface="Canva Sans"/>
                  <a:ea typeface="Canva Sans"/>
                  <a:cs typeface="Canva Sans"/>
                  <a:sym typeface="Canva Sans"/>
                </a:rPr>
                <a:t>Propuesta de solución</a:t>
              </a:r>
            </a:p>
            <a:p>
              <a:pPr algn="just">
                <a:lnSpc>
                  <a:spcPts val="3240"/>
                </a:lnSpc>
              </a:pPr>
            </a:p>
            <a:p>
              <a:pPr algn="just">
                <a:lnSpc>
                  <a:spcPts val="3240"/>
                </a:lnSpc>
              </a:pPr>
            </a:p>
            <a:p>
              <a:pPr algn="just">
                <a:lnSpc>
                  <a:spcPts val="2400"/>
                </a:lnSpc>
              </a:pPr>
              <a:r>
                <a:rPr lang="en-US" sz="2000">
                  <a:solidFill>
                    <a:srgbClr val="000000"/>
                  </a:solidFill>
                  <a:latin typeface="Canva Sans"/>
                  <a:ea typeface="Canva Sans"/>
                  <a:cs typeface="Canva Sans"/>
                  <a:sym typeface="Canva Sans"/>
                </a:rPr>
                <a:t>Implementar un flujo ETL que extraiga, transforme y cargue los datos de producción desde las planillas actuales hacia una base de datos centralizada, sobre la cual se construyan dashboards de control (BI) con indicadores y visualizaciones que permitan monitorear los tiempos de producción y apoyar la planificación, el seguimiento de los procesos y la toma de decisiones en la empresa Axis.</a:t>
              </a:r>
            </a:p>
          </p:txBody>
        </p:sp>
      </p:grpSp>
      <p:grpSp>
        <p:nvGrpSpPr>
          <p:cNvPr name="Group 15" id="15"/>
          <p:cNvGrpSpPr/>
          <p:nvPr/>
        </p:nvGrpSpPr>
        <p:grpSpPr>
          <a:xfrm rot="0">
            <a:off x="8175830" y="5594862"/>
            <a:ext cx="1729863" cy="1154676"/>
            <a:chOff x="0" y="0"/>
            <a:chExt cx="2306484" cy="1539568"/>
          </a:xfrm>
        </p:grpSpPr>
        <p:sp>
          <p:nvSpPr>
            <p:cNvPr name="Freeform 16" id="16"/>
            <p:cNvSpPr/>
            <p:nvPr/>
          </p:nvSpPr>
          <p:spPr>
            <a:xfrm flipH="false" flipV="false" rot="0">
              <a:off x="12700" y="12700"/>
              <a:ext cx="2281174" cy="1514094"/>
            </a:xfrm>
            <a:custGeom>
              <a:avLst/>
              <a:gdLst/>
              <a:ahLst/>
              <a:cxnLst/>
              <a:rect r="r" b="b" t="t" l="l"/>
              <a:pathLst>
                <a:path h="1514094" w="2281174">
                  <a:moveTo>
                    <a:pt x="0" y="378587"/>
                  </a:moveTo>
                  <a:lnTo>
                    <a:pt x="1519809" y="378587"/>
                  </a:lnTo>
                  <a:lnTo>
                    <a:pt x="1519809" y="0"/>
                  </a:lnTo>
                  <a:lnTo>
                    <a:pt x="2281174" y="757047"/>
                  </a:lnTo>
                  <a:lnTo>
                    <a:pt x="1519809" y="1514094"/>
                  </a:lnTo>
                  <a:lnTo>
                    <a:pt x="1519809" y="1135634"/>
                  </a:lnTo>
                  <a:lnTo>
                    <a:pt x="0" y="1135634"/>
                  </a:lnTo>
                  <a:close/>
                </a:path>
              </a:pathLst>
            </a:custGeom>
            <a:solidFill>
              <a:srgbClr val="4472C4"/>
            </a:solidFill>
            <a:ln w="12700">
              <a:solidFill>
                <a:srgbClr val="000000"/>
              </a:solidFill>
            </a:ln>
          </p:spPr>
        </p:sp>
        <p:sp>
          <p:nvSpPr>
            <p:cNvPr name="Freeform 17" id="17"/>
            <p:cNvSpPr/>
            <p:nvPr/>
          </p:nvSpPr>
          <p:spPr>
            <a:xfrm flipH="false" flipV="false" rot="0">
              <a:off x="0" y="71"/>
              <a:ext cx="2306447" cy="1539409"/>
            </a:xfrm>
            <a:custGeom>
              <a:avLst/>
              <a:gdLst/>
              <a:ahLst/>
              <a:cxnLst/>
              <a:rect r="r" b="b" t="t" l="l"/>
              <a:pathLst>
                <a:path h="1539409" w="2306447">
                  <a:moveTo>
                    <a:pt x="12700" y="378516"/>
                  </a:moveTo>
                  <a:lnTo>
                    <a:pt x="1532509" y="378516"/>
                  </a:lnTo>
                  <a:lnTo>
                    <a:pt x="1532509" y="391216"/>
                  </a:lnTo>
                  <a:lnTo>
                    <a:pt x="1519809" y="391216"/>
                  </a:lnTo>
                  <a:lnTo>
                    <a:pt x="1519809" y="12629"/>
                  </a:lnTo>
                  <a:cubicBezTo>
                    <a:pt x="1519809" y="7549"/>
                    <a:pt x="1522857" y="2850"/>
                    <a:pt x="1527683" y="945"/>
                  </a:cubicBezTo>
                  <a:cubicBezTo>
                    <a:pt x="1532509" y="-960"/>
                    <a:pt x="1537843" y="56"/>
                    <a:pt x="1541526" y="3612"/>
                  </a:cubicBezTo>
                  <a:lnTo>
                    <a:pt x="2302764" y="760659"/>
                  </a:lnTo>
                  <a:cubicBezTo>
                    <a:pt x="2305177" y="763072"/>
                    <a:pt x="2306447" y="766247"/>
                    <a:pt x="2306447" y="769676"/>
                  </a:cubicBezTo>
                  <a:cubicBezTo>
                    <a:pt x="2306447" y="773105"/>
                    <a:pt x="2305050" y="776280"/>
                    <a:pt x="2302764" y="778693"/>
                  </a:cubicBezTo>
                  <a:lnTo>
                    <a:pt x="1541399" y="1535740"/>
                  </a:lnTo>
                  <a:cubicBezTo>
                    <a:pt x="1537716" y="1539296"/>
                    <a:pt x="1532255" y="1540439"/>
                    <a:pt x="1527556" y="1538407"/>
                  </a:cubicBezTo>
                  <a:cubicBezTo>
                    <a:pt x="1522857" y="1536375"/>
                    <a:pt x="1519682" y="1531803"/>
                    <a:pt x="1519682" y="1526723"/>
                  </a:cubicBezTo>
                  <a:lnTo>
                    <a:pt x="1519682" y="1148263"/>
                  </a:lnTo>
                  <a:lnTo>
                    <a:pt x="1532382" y="1148263"/>
                  </a:lnTo>
                  <a:lnTo>
                    <a:pt x="1532382" y="1160963"/>
                  </a:lnTo>
                  <a:lnTo>
                    <a:pt x="12700" y="1160963"/>
                  </a:lnTo>
                  <a:cubicBezTo>
                    <a:pt x="5715" y="1160963"/>
                    <a:pt x="0" y="1155248"/>
                    <a:pt x="0" y="1148263"/>
                  </a:cubicBezTo>
                  <a:lnTo>
                    <a:pt x="0" y="391216"/>
                  </a:lnTo>
                  <a:cubicBezTo>
                    <a:pt x="0" y="384231"/>
                    <a:pt x="5715" y="378516"/>
                    <a:pt x="12700" y="378516"/>
                  </a:cubicBezTo>
                  <a:moveTo>
                    <a:pt x="12700" y="403916"/>
                  </a:moveTo>
                  <a:lnTo>
                    <a:pt x="12700" y="391216"/>
                  </a:lnTo>
                  <a:lnTo>
                    <a:pt x="25400" y="391216"/>
                  </a:lnTo>
                  <a:lnTo>
                    <a:pt x="25400" y="1148263"/>
                  </a:lnTo>
                  <a:lnTo>
                    <a:pt x="12700" y="1148263"/>
                  </a:lnTo>
                  <a:lnTo>
                    <a:pt x="12700" y="1135563"/>
                  </a:lnTo>
                  <a:lnTo>
                    <a:pt x="1532509" y="1135563"/>
                  </a:lnTo>
                  <a:cubicBezTo>
                    <a:pt x="1539494" y="1135563"/>
                    <a:pt x="1545209" y="1141278"/>
                    <a:pt x="1545209" y="1148263"/>
                  </a:cubicBezTo>
                  <a:lnTo>
                    <a:pt x="1545209" y="1526850"/>
                  </a:lnTo>
                  <a:lnTo>
                    <a:pt x="1532509" y="1526850"/>
                  </a:lnTo>
                  <a:lnTo>
                    <a:pt x="1523492" y="1517833"/>
                  </a:lnTo>
                  <a:lnTo>
                    <a:pt x="2284857" y="760659"/>
                  </a:lnTo>
                  <a:lnTo>
                    <a:pt x="2293874" y="769676"/>
                  </a:lnTo>
                  <a:lnTo>
                    <a:pt x="2284857" y="778693"/>
                  </a:lnTo>
                  <a:lnTo>
                    <a:pt x="1523492" y="21646"/>
                  </a:lnTo>
                  <a:lnTo>
                    <a:pt x="1532509" y="12629"/>
                  </a:lnTo>
                  <a:lnTo>
                    <a:pt x="1545209" y="12629"/>
                  </a:lnTo>
                  <a:lnTo>
                    <a:pt x="1545209" y="391216"/>
                  </a:lnTo>
                  <a:cubicBezTo>
                    <a:pt x="1545209" y="398201"/>
                    <a:pt x="1539494" y="403916"/>
                    <a:pt x="1532509" y="403916"/>
                  </a:cubicBezTo>
                  <a:lnTo>
                    <a:pt x="12700" y="403916"/>
                  </a:lnTo>
                  <a:close/>
                </a:path>
              </a:pathLst>
            </a:custGeom>
            <a:solidFill>
              <a:srgbClr val="172C51"/>
            </a:solidFill>
            <a:ln w="12700">
              <a:solidFill>
                <a:srgbClr val="000000"/>
              </a:solidFill>
            </a:ln>
          </p:spPr>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TextBox 4" id="4"/>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5" id="5"/>
          <p:cNvSpPr txBox="true"/>
          <p:nvPr/>
        </p:nvSpPr>
        <p:spPr>
          <a:xfrm rot="0">
            <a:off x="91440" y="2007876"/>
            <a:ext cx="18105118" cy="992356"/>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Objetivo General</a:t>
            </a:r>
          </a:p>
        </p:txBody>
      </p:sp>
      <p:sp>
        <p:nvSpPr>
          <p:cNvPr name="AutoShape 6" id="6"/>
          <p:cNvSpPr/>
          <p:nvPr/>
        </p:nvSpPr>
        <p:spPr>
          <a:xfrm rot="13305">
            <a:off x="-11929" y="1137040"/>
            <a:ext cx="6152284" cy="0"/>
          </a:xfrm>
          <a:prstGeom prst="line">
            <a:avLst/>
          </a:prstGeom>
          <a:ln cap="rnd" w="9525">
            <a:solidFill>
              <a:srgbClr val="000000"/>
            </a:solidFill>
            <a:prstDash val="solid"/>
            <a:headEnd type="none" len="sm" w="sm"/>
            <a:tailEnd type="none" len="sm" w="sm"/>
          </a:ln>
        </p:spPr>
      </p:sp>
      <p:sp>
        <p:nvSpPr>
          <p:cNvPr name="TextBox 7" id="7"/>
          <p:cNvSpPr txBox="true"/>
          <p:nvPr/>
        </p:nvSpPr>
        <p:spPr>
          <a:xfrm rot="0">
            <a:off x="91442" y="6055089"/>
            <a:ext cx="18105118" cy="992357"/>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Objetivos Específicos</a:t>
            </a:r>
          </a:p>
        </p:txBody>
      </p:sp>
      <p:grpSp>
        <p:nvGrpSpPr>
          <p:cNvPr name="Group 8" id="8"/>
          <p:cNvGrpSpPr/>
          <p:nvPr/>
        </p:nvGrpSpPr>
        <p:grpSpPr>
          <a:xfrm rot="0">
            <a:off x="912248" y="3051332"/>
            <a:ext cx="16463500" cy="2381881"/>
            <a:chOff x="0" y="0"/>
            <a:chExt cx="21951334" cy="3175842"/>
          </a:xfrm>
        </p:grpSpPr>
        <p:sp>
          <p:nvSpPr>
            <p:cNvPr name="Freeform 9" id="9"/>
            <p:cNvSpPr/>
            <p:nvPr/>
          </p:nvSpPr>
          <p:spPr>
            <a:xfrm flipH="false" flipV="false" rot="0">
              <a:off x="12700" y="12700"/>
              <a:ext cx="21925914" cy="3150489"/>
            </a:xfrm>
            <a:custGeom>
              <a:avLst/>
              <a:gdLst/>
              <a:ahLst/>
              <a:cxnLst/>
              <a:rect r="r" b="b" t="t" l="l"/>
              <a:pathLst>
                <a:path h="3150489" w="21925914">
                  <a:moveTo>
                    <a:pt x="0" y="525145"/>
                  </a:moveTo>
                  <a:cubicBezTo>
                    <a:pt x="0" y="235077"/>
                    <a:pt x="236728" y="0"/>
                    <a:pt x="528701" y="0"/>
                  </a:cubicBezTo>
                  <a:lnTo>
                    <a:pt x="21397213" y="0"/>
                  </a:lnTo>
                  <a:cubicBezTo>
                    <a:pt x="21689186" y="0"/>
                    <a:pt x="21925914" y="235077"/>
                    <a:pt x="21925914" y="525145"/>
                  </a:cubicBezTo>
                  <a:lnTo>
                    <a:pt x="21925914" y="2625344"/>
                  </a:lnTo>
                  <a:cubicBezTo>
                    <a:pt x="21925914" y="2915285"/>
                    <a:pt x="21689186" y="3150489"/>
                    <a:pt x="21397213" y="3150489"/>
                  </a:cubicBezTo>
                  <a:lnTo>
                    <a:pt x="528701" y="3150489"/>
                  </a:lnTo>
                  <a:cubicBezTo>
                    <a:pt x="236728" y="3150489"/>
                    <a:pt x="0" y="2915412"/>
                    <a:pt x="0" y="2625344"/>
                  </a:cubicBezTo>
                  <a:close/>
                </a:path>
              </a:pathLst>
            </a:custGeom>
            <a:solidFill>
              <a:srgbClr val="FFFFFF"/>
            </a:solidFill>
            <a:ln w="12700">
              <a:solidFill>
                <a:srgbClr val="000000"/>
              </a:solidFill>
            </a:ln>
          </p:spPr>
        </p:sp>
        <p:sp>
          <p:nvSpPr>
            <p:cNvPr name="Freeform 10" id="10"/>
            <p:cNvSpPr/>
            <p:nvPr/>
          </p:nvSpPr>
          <p:spPr>
            <a:xfrm flipH="false" flipV="false" rot="0">
              <a:off x="0" y="0"/>
              <a:ext cx="21951314" cy="3175889"/>
            </a:xfrm>
            <a:custGeom>
              <a:avLst/>
              <a:gdLst/>
              <a:ahLst/>
              <a:cxnLst/>
              <a:rect r="r" b="b" t="t" l="l"/>
              <a:pathLst>
                <a:path h="3175889" w="21951314">
                  <a:moveTo>
                    <a:pt x="0" y="537845"/>
                  </a:moveTo>
                  <a:cubicBezTo>
                    <a:pt x="0" y="240665"/>
                    <a:pt x="242443" y="0"/>
                    <a:pt x="541401" y="0"/>
                  </a:cubicBezTo>
                  <a:lnTo>
                    <a:pt x="21409913" y="0"/>
                  </a:lnTo>
                  <a:lnTo>
                    <a:pt x="21409913" y="12700"/>
                  </a:lnTo>
                  <a:lnTo>
                    <a:pt x="21409913" y="0"/>
                  </a:lnTo>
                  <a:cubicBezTo>
                    <a:pt x="21708872" y="0"/>
                    <a:pt x="21951314" y="240665"/>
                    <a:pt x="21951314" y="537845"/>
                  </a:cubicBezTo>
                  <a:lnTo>
                    <a:pt x="21938614" y="537845"/>
                  </a:lnTo>
                  <a:lnTo>
                    <a:pt x="21951314" y="537845"/>
                  </a:lnTo>
                  <a:lnTo>
                    <a:pt x="21951314" y="2638044"/>
                  </a:lnTo>
                  <a:lnTo>
                    <a:pt x="21938614" y="2638044"/>
                  </a:lnTo>
                  <a:lnTo>
                    <a:pt x="21951314" y="2638044"/>
                  </a:lnTo>
                  <a:cubicBezTo>
                    <a:pt x="21951314" y="2935097"/>
                    <a:pt x="21708872" y="3175889"/>
                    <a:pt x="21409913" y="3175889"/>
                  </a:cubicBezTo>
                  <a:lnTo>
                    <a:pt x="21409913" y="3163189"/>
                  </a:lnTo>
                  <a:lnTo>
                    <a:pt x="21409913" y="3175889"/>
                  </a:lnTo>
                  <a:lnTo>
                    <a:pt x="541401" y="3175889"/>
                  </a:lnTo>
                  <a:lnTo>
                    <a:pt x="541401" y="3163189"/>
                  </a:lnTo>
                  <a:lnTo>
                    <a:pt x="541401" y="3175889"/>
                  </a:lnTo>
                  <a:cubicBezTo>
                    <a:pt x="242443" y="3175889"/>
                    <a:pt x="0" y="2935097"/>
                    <a:pt x="0" y="2638044"/>
                  </a:cubicBezTo>
                  <a:lnTo>
                    <a:pt x="0" y="537845"/>
                  </a:lnTo>
                  <a:lnTo>
                    <a:pt x="12700" y="537845"/>
                  </a:lnTo>
                  <a:lnTo>
                    <a:pt x="0" y="537845"/>
                  </a:lnTo>
                  <a:moveTo>
                    <a:pt x="25400" y="537845"/>
                  </a:moveTo>
                  <a:lnTo>
                    <a:pt x="25400" y="2638044"/>
                  </a:lnTo>
                  <a:lnTo>
                    <a:pt x="12700" y="2638044"/>
                  </a:lnTo>
                  <a:lnTo>
                    <a:pt x="25400" y="2638044"/>
                  </a:lnTo>
                  <a:cubicBezTo>
                    <a:pt x="25400" y="2921000"/>
                    <a:pt x="256286" y="3150489"/>
                    <a:pt x="541401" y="3150489"/>
                  </a:cubicBezTo>
                  <a:lnTo>
                    <a:pt x="21409913" y="3150489"/>
                  </a:lnTo>
                  <a:cubicBezTo>
                    <a:pt x="21695028" y="3150489"/>
                    <a:pt x="21925914" y="2921000"/>
                    <a:pt x="21925914" y="2638044"/>
                  </a:cubicBezTo>
                  <a:lnTo>
                    <a:pt x="21925914" y="537845"/>
                  </a:lnTo>
                  <a:cubicBezTo>
                    <a:pt x="21925914" y="254889"/>
                    <a:pt x="21695028" y="25400"/>
                    <a:pt x="21409913" y="25400"/>
                  </a:cubicBezTo>
                  <a:lnTo>
                    <a:pt x="541401" y="25400"/>
                  </a:lnTo>
                  <a:lnTo>
                    <a:pt x="541401" y="12700"/>
                  </a:lnTo>
                  <a:lnTo>
                    <a:pt x="541401" y="25400"/>
                  </a:lnTo>
                  <a:cubicBezTo>
                    <a:pt x="256286" y="25400"/>
                    <a:pt x="25400" y="254889"/>
                    <a:pt x="25400" y="537845"/>
                  </a:cubicBezTo>
                  <a:close/>
                </a:path>
              </a:pathLst>
            </a:custGeom>
            <a:solidFill>
              <a:srgbClr val="4472C4"/>
            </a:solidFill>
            <a:ln w="12700">
              <a:solidFill>
                <a:srgbClr val="000000"/>
              </a:solidFill>
            </a:ln>
          </p:spPr>
        </p:sp>
        <p:sp>
          <p:nvSpPr>
            <p:cNvPr name="TextBox 11" id="11"/>
            <p:cNvSpPr txBox="true"/>
            <p:nvPr/>
          </p:nvSpPr>
          <p:spPr>
            <a:xfrm>
              <a:off x="0" y="-57150"/>
              <a:ext cx="21951334" cy="3232992"/>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Desarrollar un prototipo de sistema ETL y dashboards de control que optimicen la gestión de tiempos en la producción de baños modulares de la empresa Axis.</a:t>
              </a:r>
            </a:p>
          </p:txBody>
        </p:sp>
      </p:grpSp>
      <p:grpSp>
        <p:nvGrpSpPr>
          <p:cNvPr name="Group 12" id="12"/>
          <p:cNvGrpSpPr/>
          <p:nvPr/>
        </p:nvGrpSpPr>
        <p:grpSpPr>
          <a:xfrm rot="0">
            <a:off x="912248" y="7095070"/>
            <a:ext cx="16463500" cy="2666758"/>
            <a:chOff x="0" y="0"/>
            <a:chExt cx="21951334" cy="3555678"/>
          </a:xfrm>
        </p:grpSpPr>
        <p:sp>
          <p:nvSpPr>
            <p:cNvPr name="Freeform 13" id="13"/>
            <p:cNvSpPr/>
            <p:nvPr/>
          </p:nvSpPr>
          <p:spPr>
            <a:xfrm flipH="false" flipV="false" rot="0">
              <a:off x="12700" y="14219"/>
              <a:ext cx="21925914" cy="3527292"/>
            </a:xfrm>
            <a:custGeom>
              <a:avLst/>
              <a:gdLst/>
              <a:ahLst/>
              <a:cxnLst/>
              <a:rect r="r" b="b" t="t" l="l"/>
              <a:pathLst>
                <a:path h="3527292" w="21925914">
                  <a:moveTo>
                    <a:pt x="0" y="587953"/>
                  </a:moveTo>
                  <a:cubicBezTo>
                    <a:pt x="0" y="263193"/>
                    <a:pt x="236728" y="0"/>
                    <a:pt x="528701" y="0"/>
                  </a:cubicBezTo>
                  <a:lnTo>
                    <a:pt x="21397213" y="0"/>
                  </a:lnTo>
                  <a:cubicBezTo>
                    <a:pt x="21689186" y="0"/>
                    <a:pt x="21925914" y="263193"/>
                    <a:pt x="21925914" y="587953"/>
                  </a:cubicBezTo>
                  <a:lnTo>
                    <a:pt x="21925914" y="2939339"/>
                  </a:lnTo>
                  <a:cubicBezTo>
                    <a:pt x="21925914" y="3263958"/>
                    <a:pt x="21689186" y="3527292"/>
                    <a:pt x="21397213" y="3527292"/>
                  </a:cubicBezTo>
                  <a:lnTo>
                    <a:pt x="528701" y="3527292"/>
                  </a:lnTo>
                  <a:cubicBezTo>
                    <a:pt x="236728" y="3527292"/>
                    <a:pt x="0" y="3264099"/>
                    <a:pt x="0" y="2939339"/>
                  </a:cubicBezTo>
                  <a:close/>
                </a:path>
              </a:pathLst>
            </a:custGeom>
            <a:solidFill>
              <a:srgbClr val="FFFFFF"/>
            </a:solidFill>
            <a:ln w="12700">
              <a:solidFill>
                <a:srgbClr val="000000"/>
              </a:solidFill>
            </a:ln>
          </p:spPr>
        </p:sp>
        <p:sp>
          <p:nvSpPr>
            <p:cNvPr name="Freeform 14" id="14"/>
            <p:cNvSpPr/>
            <p:nvPr/>
          </p:nvSpPr>
          <p:spPr>
            <a:xfrm flipH="false" flipV="false" rot="0">
              <a:off x="0" y="0"/>
              <a:ext cx="21951314" cy="3555725"/>
            </a:xfrm>
            <a:custGeom>
              <a:avLst/>
              <a:gdLst/>
              <a:ahLst/>
              <a:cxnLst/>
              <a:rect r="r" b="b" t="t" l="l"/>
              <a:pathLst>
                <a:path h="3555725" w="21951314">
                  <a:moveTo>
                    <a:pt x="0" y="602172"/>
                  </a:moveTo>
                  <a:cubicBezTo>
                    <a:pt x="0" y="269449"/>
                    <a:pt x="242443" y="0"/>
                    <a:pt x="541401" y="0"/>
                  </a:cubicBezTo>
                  <a:lnTo>
                    <a:pt x="21409913" y="0"/>
                  </a:lnTo>
                  <a:lnTo>
                    <a:pt x="21409913" y="14219"/>
                  </a:lnTo>
                  <a:lnTo>
                    <a:pt x="21409913" y="0"/>
                  </a:lnTo>
                  <a:cubicBezTo>
                    <a:pt x="21708872" y="0"/>
                    <a:pt x="21951314" y="269449"/>
                    <a:pt x="21951314" y="602172"/>
                  </a:cubicBezTo>
                  <a:lnTo>
                    <a:pt x="21938614" y="602172"/>
                  </a:lnTo>
                  <a:lnTo>
                    <a:pt x="21951314" y="602172"/>
                  </a:lnTo>
                  <a:lnTo>
                    <a:pt x="21951314" y="2953558"/>
                  </a:lnTo>
                  <a:lnTo>
                    <a:pt x="21938614" y="2953558"/>
                  </a:lnTo>
                  <a:lnTo>
                    <a:pt x="21951314" y="2953558"/>
                  </a:lnTo>
                  <a:cubicBezTo>
                    <a:pt x="21951314" y="3286139"/>
                    <a:pt x="21708872" y="3555725"/>
                    <a:pt x="21409913" y="3555725"/>
                  </a:cubicBezTo>
                  <a:lnTo>
                    <a:pt x="21409913" y="3541511"/>
                  </a:lnTo>
                  <a:lnTo>
                    <a:pt x="21409913" y="3555725"/>
                  </a:lnTo>
                  <a:lnTo>
                    <a:pt x="541401" y="3555725"/>
                  </a:lnTo>
                  <a:lnTo>
                    <a:pt x="541401" y="3541511"/>
                  </a:lnTo>
                  <a:lnTo>
                    <a:pt x="541401" y="3555725"/>
                  </a:lnTo>
                  <a:cubicBezTo>
                    <a:pt x="242443" y="3555725"/>
                    <a:pt x="0" y="3286139"/>
                    <a:pt x="0" y="2953558"/>
                  </a:cubicBezTo>
                  <a:lnTo>
                    <a:pt x="0" y="602172"/>
                  </a:lnTo>
                  <a:lnTo>
                    <a:pt x="12700" y="602172"/>
                  </a:lnTo>
                  <a:lnTo>
                    <a:pt x="0" y="602172"/>
                  </a:lnTo>
                  <a:moveTo>
                    <a:pt x="25400" y="602172"/>
                  </a:moveTo>
                  <a:lnTo>
                    <a:pt x="25400" y="2953558"/>
                  </a:lnTo>
                  <a:lnTo>
                    <a:pt x="12700" y="2953558"/>
                  </a:lnTo>
                  <a:lnTo>
                    <a:pt x="25400" y="2953558"/>
                  </a:lnTo>
                  <a:cubicBezTo>
                    <a:pt x="25400" y="3270356"/>
                    <a:pt x="256286" y="3527292"/>
                    <a:pt x="541401" y="3527292"/>
                  </a:cubicBezTo>
                  <a:lnTo>
                    <a:pt x="21409913" y="3527292"/>
                  </a:lnTo>
                  <a:cubicBezTo>
                    <a:pt x="21695028" y="3527292"/>
                    <a:pt x="21925914" y="3270356"/>
                    <a:pt x="21925914" y="2953558"/>
                  </a:cubicBezTo>
                  <a:lnTo>
                    <a:pt x="21925914" y="602172"/>
                  </a:lnTo>
                  <a:cubicBezTo>
                    <a:pt x="21925914" y="285374"/>
                    <a:pt x="21695028" y="28438"/>
                    <a:pt x="21409913" y="28438"/>
                  </a:cubicBezTo>
                  <a:lnTo>
                    <a:pt x="541401" y="28438"/>
                  </a:lnTo>
                  <a:lnTo>
                    <a:pt x="541401" y="14219"/>
                  </a:lnTo>
                  <a:lnTo>
                    <a:pt x="541401" y="28438"/>
                  </a:lnTo>
                  <a:cubicBezTo>
                    <a:pt x="256286" y="28438"/>
                    <a:pt x="25400" y="285374"/>
                    <a:pt x="25400" y="602172"/>
                  </a:cubicBezTo>
                  <a:close/>
                </a:path>
              </a:pathLst>
            </a:custGeom>
            <a:solidFill>
              <a:srgbClr val="4472C4"/>
            </a:solidFill>
            <a:ln w="12700">
              <a:solidFill>
                <a:srgbClr val="000000"/>
              </a:solidFill>
            </a:ln>
          </p:spPr>
        </p:sp>
        <p:sp>
          <p:nvSpPr>
            <p:cNvPr name="TextBox 15" id="15"/>
            <p:cNvSpPr txBox="true"/>
            <p:nvPr/>
          </p:nvSpPr>
          <p:spPr>
            <a:xfrm>
              <a:off x="0" y="-57150"/>
              <a:ext cx="21951334" cy="3612828"/>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1) Levantar requisitos técnicos y funcionales. </a:t>
              </a:r>
            </a:p>
            <a:p>
              <a:pPr algn="ctr">
                <a:lnSpc>
                  <a:spcPts val="3240"/>
                </a:lnSpc>
              </a:pPr>
              <a:r>
                <a:rPr lang="en-US" sz="2700">
                  <a:solidFill>
                    <a:srgbClr val="000000"/>
                  </a:solidFill>
                  <a:latin typeface="Calibri (MS)"/>
                  <a:ea typeface="Calibri (MS)"/>
                  <a:cs typeface="Calibri (MS)"/>
                  <a:sym typeface="Calibri (MS)"/>
                </a:rPr>
                <a:t>2) </a:t>
              </a:r>
              <a:r>
                <a:rPr lang="en-US" sz="2700">
                  <a:solidFill>
                    <a:srgbClr val="000000"/>
                  </a:solidFill>
                  <a:latin typeface="Calibri (MS)"/>
                  <a:ea typeface="Calibri (MS)"/>
                  <a:cs typeface="Calibri (MS)"/>
                  <a:sym typeface="Calibri (MS)"/>
                </a:rPr>
                <a:t>Diseñar un modelo de datos centralizado. </a:t>
              </a:r>
            </a:p>
            <a:p>
              <a:pPr algn="ctr">
                <a:lnSpc>
                  <a:spcPts val="3240"/>
                </a:lnSpc>
              </a:pPr>
              <a:r>
                <a:rPr lang="en-US" sz="2700">
                  <a:solidFill>
                    <a:srgbClr val="000000"/>
                  </a:solidFill>
                  <a:latin typeface="Calibri (MS)"/>
                  <a:ea typeface="Calibri (MS)"/>
                  <a:cs typeface="Calibri (MS)"/>
                  <a:sym typeface="Calibri (MS)"/>
                </a:rPr>
                <a:t>3) Implementar el proceso de extracción, transformación y carga. </a:t>
              </a:r>
            </a:p>
            <a:p>
              <a:pPr algn="ctr">
                <a:lnSpc>
                  <a:spcPts val="3240"/>
                </a:lnSpc>
              </a:pPr>
              <a:r>
                <a:rPr lang="en-US" sz="2700">
                  <a:solidFill>
                    <a:srgbClr val="000000"/>
                  </a:solidFill>
                  <a:latin typeface="Calibri (MS)"/>
                  <a:ea typeface="Calibri (MS)"/>
                  <a:cs typeface="Calibri (MS)"/>
                  <a:sym typeface="Calibri (MS)"/>
                </a:rPr>
                <a:t>4) Crear tableros con indicadores clave para la gestión. </a:t>
              </a:r>
            </a:p>
            <a:p>
              <a:pPr algn="ctr">
                <a:lnSpc>
                  <a:spcPts val="3240"/>
                </a:lnSpc>
              </a:pPr>
              <a:r>
                <a:rPr lang="en-US" sz="2700">
                  <a:solidFill>
                    <a:srgbClr val="000000"/>
                  </a:solidFill>
                  <a:latin typeface="Calibri (MS)"/>
                  <a:ea typeface="Calibri (MS)"/>
                  <a:cs typeface="Calibri (MS)"/>
                  <a:sym typeface="Calibri (MS)"/>
                </a:rPr>
                <a:t>5) Validar el prototipo con datos de prueba y reales. </a:t>
              </a:r>
            </a:p>
            <a:p>
              <a:pPr algn="ctr">
                <a:lnSpc>
                  <a:spcPts val="3240"/>
                </a:lnSpc>
              </a:pPr>
              <a:r>
                <a:rPr lang="en-US" sz="2700">
                  <a:solidFill>
                    <a:srgbClr val="000000"/>
                  </a:solidFill>
                  <a:latin typeface="Calibri (MS)"/>
                  <a:ea typeface="Calibri (MS)"/>
                  <a:cs typeface="Calibri (MS)"/>
                  <a:sym typeface="Calibri (MS)"/>
                </a:rPr>
                <a:t>6) Redactar la guía técnica y de usuario.</a:t>
              </a: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AutoShape 4" id="4"/>
          <p:cNvSpPr/>
          <p:nvPr/>
        </p:nvSpPr>
        <p:spPr>
          <a:xfrm rot="13305">
            <a:off x="-11929" y="1137040"/>
            <a:ext cx="6152284" cy="0"/>
          </a:xfrm>
          <a:prstGeom prst="line">
            <a:avLst/>
          </a:prstGeom>
          <a:ln cap="rnd" w="9525">
            <a:solidFill>
              <a:srgbClr val="000000"/>
            </a:solidFill>
            <a:prstDash val="solid"/>
            <a:headEnd type="none" len="sm" w="sm"/>
            <a:tailEnd type="none" len="sm" w="sm"/>
          </a:ln>
        </p:spPr>
      </p:sp>
      <p:graphicFrame>
        <p:nvGraphicFramePr>
          <p:cNvPr name="Object 5" id="5"/>
          <p:cNvGraphicFramePr/>
          <p:nvPr/>
        </p:nvGraphicFramePr>
        <p:xfrm>
          <a:off x="1028700" y="2849652"/>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7" id="7"/>
          <p:cNvSpPr txBox="true"/>
          <p:nvPr/>
        </p:nvSpPr>
        <p:spPr>
          <a:xfrm rot="0">
            <a:off x="91441" y="1258085"/>
            <a:ext cx="18105118" cy="992357"/>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Alcances y limitaciones del proyecto</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AutoShape 4" id="4"/>
          <p:cNvSpPr/>
          <p:nvPr/>
        </p:nvSpPr>
        <p:spPr>
          <a:xfrm>
            <a:off x="-11906" y="1129897"/>
            <a:ext cx="6152238" cy="23812"/>
          </a:xfrm>
          <a:prstGeom prst="line">
            <a:avLst/>
          </a:prstGeom>
          <a:ln cap="rnd" w="9525">
            <a:solidFill>
              <a:srgbClr val="000000"/>
            </a:solidFill>
            <a:prstDash val="solid"/>
            <a:headEnd type="none" len="sm" w="sm"/>
            <a:tailEnd type="none" len="sm" w="sm"/>
          </a:ln>
        </p:spPr>
      </p:sp>
      <p:graphicFrame>
        <p:nvGraphicFramePr>
          <p:cNvPr name="Object 5" id="5"/>
          <p:cNvGraphicFramePr/>
          <p:nvPr/>
        </p:nvGraphicFramePr>
        <p:xfrm>
          <a:off x="1028700" y="3369257"/>
          <a:ext cx="16230600" cy="5826697"/>
        </p:xfrm>
        <a:graphic>
          <a:graphicData uri="http://schemas.openxmlformats.org/presentationml/2006/ole">
            <p:oleObj imgW="19469100" imgH="906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7" id="7"/>
          <p:cNvSpPr txBox="true"/>
          <p:nvPr/>
        </p:nvSpPr>
        <p:spPr>
          <a:xfrm rot="0">
            <a:off x="91440" y="2080402"/>
            <a:ext cx="18105118" cy="992357"/>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Metodología de trabajo para el desarrollo del proyecto</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AutoShape 4" id="4"/>
          <p:cNvSpPr/>
          <p:nvPr/>
        </p:nvSpPr>
        <p:spPr>
          <a:xfrm rot="13305">
            <a:off x="-11929" y="1137040"/>
            <a:ext cx="6152284" cy="0"/>
          </a:xfrm>
          <a:prstGeom prst="line">
            <a:avLst/>
          </a:prstGeom>
          <a:ln cap="rnd" w="9525">
            <a:solidFill>
              <a:srgbClr val="000000"/>
            </a:solidFill>
            <a:prstDash val="solid"/>
            <a:headEnd type="none" len="sm" w="sm"/>
            <a:tailEnd type="none" len="sm" w="sm"/>
          </a:ln>
        </p:spPr>
      </p:sp>
      <p:graphicFrame>
        <p:nvGraphicFramePr>
          <p:cNvPr name="Object 5" id="5"/>
          <p:cNvGraphicFramePr/>
          <p:nvPr/>
        </p:nvGraphicFramePr>
        <p:xfrm>
          <a:off x="1028700" y="3369879"/>
          <a:ext cx="14241120" cy="8229600"/>
        </p:xfrm>
        <a:graphic>
          <a:graphicData uri="http://schemas.openxmlformats.org/presentationml/2006/ole">
            <p:oleObj imgW="17081500" imgH="11074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7" id="7"/>
          <p:cNvSpPr txBox="true"/>
          <p:nvPr/>
        </p:nvSpPr>
        <p:spPr>
          <a:xfrm rot="0">
            <a:off x="91441" y="1664904"/>
            <a:ext cx="18105118" cy="933450"/>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Cronograma para el desarrollo del proyecto</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AutoShape 4" id="4"/>
          <p:cNvSpPr/>
          <p:nvPr/>
        </p:nvSpPr>
        <p:spPr>
          <a:xfrm rot="13305">
            <a:off x="-11929" y="1137040"/>
            <a:ext cx="6152284"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2691699" y="2712654"/>
            <a:ext cx="12904603" cy="7001142"/>
          </a:xfrm>
          <a:custGeom>
            <a:avLst/>
            <a:gdLst/>
            <a:ahLst/>
            <a:cxnLst/>
            <a:rect r="r" b="b" t="t" l="l"/>
            <a:pathLst>
              <a:path h="7001142" w="12904603">
                <a:moveTo>
                  <a:pt x="0" y="0"/>
                </a:moveTo>
                <a:lnTo>
                  <a:pt x="12904603" y="0"/>
                </a:lnTo>
                <a:lnTo>
                  <a:pt x="12904603" y="7001142"/>
                </a:lnTo>
                <a:lnTo>
                  <a:pt x="0" y="7001142"/>
                </a:lnTo>
                <a:lnTo>
                  <a:pt x="0" y="0"/>
                </a:lnTo>
                <a:close/>
              </a:path>
            </a:pathLst>
          </a:custGeom>
          <a:blipFill>
            <a:blip r:embed="rId3"/>
            <a:stretch>
              <a:fillRect l="0" t="0" r="0" b="-23034"/>
            </a:stretch>
          </a:blipFill>
        </p:spPr>
      </p:sp>
      <p:sp>
        <p:nvSpPr>
          <p:cNvPr name="TextBox 6" id="6"/>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7" id="7"/>
          <p:cNvSpPr txBox="true"/>
          <p:nvPr/>
        </p:nvSpPr>
        <p:spPr>
          <a:xfrm rot="0">
            <a:off x="91441" y="1664904"/>
            <a:ext cx="18105118" cy="933450"/>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Recopilación de datos actual del cliente</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AutoShape 4" id="4"/>
          <p:cNvSpPr/>
          <p:nvPr/>
        </p:nvSpPr>
        <p:spPr>
          <a:xfrm rot="13305">
            <a:off x="-11929" y="1137040"/>
            <a:ext cx="6152284"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5630171" y="2206222"/>
            <a:ext cx="7528057" cy="7526525"/>
          </a:xfrm>
          <a:custGeom>
            <a:avLst/>
            <a:gdLst/>
            <a:ahLst/>
            <a:cxnLst/>
            <a:rect r="r" b="b" t="t" l="l"/>
            <a:pathLst>
              <a:path h="7526525" w="7528057">
                <a:moveTo>
                  <a:pt x="0" y="0"/>
                </a:moveTo>
                <a:lnTo>
                  <a:pt x="7528057" y="0"/>
                </a:lnTo>
                <a:lnTo>
                  <a:pt x="7528057" y="7526524"/>
                </a:lnTo>
                <a:lnTo>
                  <a:pt x="0" y="7526524"/>
                </a:lnTo>
                <a:lnTo>
                  <a:pt x="0" y="0"/>
                </a:lnTo>
                <a:close/>
              </a:path>
            </a:pathLst>
          </a:custGeom>
          <a:blipFill>
            <a:blip r:embed="rId3"/>
            <a:stretch>
              <a:fillRect l="-482" t="0" r="0" b="0"/>
            </a:stretch>
          </a:blipFill>
        </p:spPr>
      </p:sp>
      <p:sp>
        <p:nvSpPr>
          <p:cNvPr name="TextBox 6" id="6"/>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7" id="7"/>
          <p:cNvSpPr txBox="true"/>
          <p:nvPr/>
        </p:nvSpPr>
        <p:spPr>
          <a:xfrm rot="0">
            <a:off x="106748" y="1158472"/>
            <a:ext cx="18105118" cy="933450"/>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Arquitectura del software</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AutoShape 4" id="4"/>
          <p:cNvSpPr/>
          <p:nvPr/>
        </p:nvSpPr>
        <p:spPr>
          <a:xfrm rot="13305">
            <a:off x="-11929" y="1137040"/>
            <a:ext cx="6152284"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2202241" y="2528742"/>
            <a:ext cx="13883519" cy="7184721"/>
          </a:xfrm>
          <a:custGeom>
            <a:avLst/>
            <a:gdLst/>
            <a:ahLst/>
            <a:cxnLst/>
            <a:rect r="r" b="b" t="t" l="l"/>
            <a:pathLst>
              <a:path h="7184721" w="13883519">
                <a:moveTo>
                  <a:pt x="0" y="0"/>
                </a:moveTo>
                <a:lnTo>
                  <a:pt x="13883518" y="0"/>
                </a:lnTo>
                <a:lnTo>
                  <a:pt x="13883518" y="7184721"/>
                </a:lnTo>
                <a:lnTo>
                  <a:pt x="0" y="7184721"/>
                </a:lnTo>
                <a:lnTo>
                  <a:pt x="0" y="0"/>
                </a:lnTo>
                <a:close/>
              </a:path>
            </a:pathLst>
          </a:custGeom>
          <a:blipFill>
            <a:blip r:embed="rId3"/>
            <a:stretch>
              <a:fillRect l="0" t="0" r="0" b="0"/>
            </a:stretch>
          </a:blipFill>
        </p:spPr>
      </p:sp>
      <p:sp>
        <p:nvSpPr>
          <p:cNvPr name="TextBox 6" id="6"/>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7" id="7"/>
          <p:cNvSpPr txBox="true"/>
          <p:nvPr/>
        </p:nvSpPr>
        <p:spPr>
          <a:xfrm rot="0">
            <a:off x="91441" y="1158472"/>
            <a:ext cx="18105118" cy="992357"/>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Modelo de datos</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AutoShape 4" id="4"/>
          <p:cNvSpPr/>
          <p:nvPr/>
        </p:nvSpPr>
        <p:spPr>
          <a:xfrm rot="13305">
            <a:off x="-11929" y="1137040"/>
            <a:ext cx="6152284" cy="0"/>
          </a:xfrm>
          <a:prstGeom prst="line">
            <a:avLst/>
          </a:prstGeom>
          <a:ln cap="rnd" w="9525">
            <a:solidFill>
              <a:srgbClr val="000000"/>
            </a:solidFill>
            <a:prstDash val="solid"/>
            <a:headEnd type="none" len="sm" w="sm"/>
            <a:tailEnd type="none" len="sm" w="sm"/>
          </a:ln>
        </p:spPr>
      </p:sp>
      <p:graphicFrame>
        <p:nvGraphicFramePr>
          <p:cNvPr name="Object 5" id="5"/>
          <p:cNvGraphicFramePr/>
          <p:nvPr/>
        </p:nvGraphicFramePr>
        <p:xfrm>
          <a:off x="4361808" y="6288590"/>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Freeform 6" id="6"/>
          <p:cNvSpPr/>
          <p:nvPr/>
        </p:nvSpPr>
        <p:spPr>
          <a:xfrm flipH="false" flipV="false" rot="0">
            <a:off x="4532946" y="3786906"/>
            <a:ext cx="2186443" cy="2186443"/>
          </a:xfrm>
          <a:custGeom>
            <a:avLst/>
            <a:gdLst/>
            <a:ahLst/>
            <a:cxnLst/>
            <a:rect r="r" b="b" t="t" l="l"/>
            <a:pathLst>
              <a:path h="2186443" w="2186443">
                <a:moveTo>
                  <a:pt x="0" y="0"/>
                </a:moveTo>
                <a:lnTo>
                  <a:pt x="2186442" y="0"/>
                </a:lnTo>
                <a:lnTo>
                  <a:pt x="2186442" y="2186443"/>
                </a:lnTo>
                <a:lnTo>
                  <a:pt x="0" y="2186443"/>
                </a:lnTo>
                <a:lnTo>
                  <a:pt x="0" y="0"/>
                </a:lnTo>
                <a:close/>
              </a:path>
            </a:pathLst>
          </a:custGeom>
          <a:blipFill>
            <a:blip r:embed="rId5"/>
            <a:stretch>
              <a:fillRect l="0" t="0" r="0" b="0"/>
            </a:stretch>
          </a:blipFill>
        </p:spPr>
      </p:sp>
      <p:sp>
        <p:nvSpPr>
          <p:cNvPr name="Freeform 7" id="7"/>
          <p:cNvSpPr/>
          <p:nvPr/>
        </p:nvSpPr>
        <p:spPr>
          <a:xfrm flipH="false" flipV="false" rot="0">
            <a:off x="13164933" y="3805442"/>
            <a:ext cx="3498308" cy="2186443"/>
          </a:xfrm>
          <a:custGeom>
            <a:avLst/>
            <a:gdLst/>
            <a:ahLst/>
            <a:cxnLst/>
            <a:rect r="r" b="b" t="t" l="l"/>
            <a:pathLst>
              <a:path h="2186443" w="3498308">
                <a:moveTo>
                  <a:pt x="0" y="0"/>
                </a:moveTo>
                <a:lnTo>
                  <a:pt x="3498309" y="0"/>
                </a:lnTo>
                <a:lnTo>
                  <a:pt x="3498309" y="2186442"/>
                </a:lnTo>
                <a:lnTo>
                  <a:pt x="0" y="2186442"/>
                </a:lnTo>
                <a:lnTo>
                  <a:pt x="0" y="0"/>
                </a:lnTo>
                <a:close/>
              </a:path>
            </a:pathLst>
          </a:custGeom>
          <a:blipFill>
            <a:blip r:embed="rId6"/>
            <a:stretch>
              <a:fillRect l="0" t="0" r="0" b="0"/>
            </a:stretch>
          </a:blipFill>
        </p:spPr>
      </p:sp>
      <p:sp>
        <p:nvSpPr>
          <p:cNvPr name="Freeform 8" id="8"/>
          <p:cNvSpPr/>
          <p:nvPr/>
        </p:nvSpPr>
        <p:spPr>
          <a:xfrm flipH="false" flipV="false" rot="0">
            <a:off x="10296018" y="3727345"/>
            <a:ext cx="2183116" cy="2246004"/>
          </a:xfrm>
          <a:custGeom>
            <a:avLst/>
            <a:gdLst/>
            <a:ahLst/>
            <a:cxnLst/>
            <a:rect r="r" b="b" t="t" l="l"/>
            <a:pathLst>
              <a:path h="2246004" w="2183116">
                <a:moveTo>
                  <a:pt x="0" y="0"/>
                </a:moveTo>
                <a:lnTo>
                  <a:pt x="2183115" y="0"/>
                </a:lnTo>
                <a:lnTo>
                  <a:pt x="2183115" y="2246004"/>
                </a:lnTo>
                <a:lnTo>
                  <a:pt x="0" y="2246004"/>
                </a:lnTo>
                <a:lnTo>
                  <a:pt x="0" y="0"/>
                </a:lnTo>
                <a:close/>
              </a:path>
            </a:pathLst>
          </a:custGeom>
          <a:blipFill>
            <a:blip r:embed="rId7"/>
            <a:stretch>
              <a:fillRect l="0" t="0" r="0" b="0"/>
            </a:stretch>
          </a:blipFill>
        </p:spPr>
      </p:sp>
      <p:sp>
        <p:nvSpPr>
          <p:cNvPr name="Freeform 9" id="9"/>
          <p:cNvSpPr/>
          <p:nvPr/>
        </p:nvSpPr>
        <p:spPr>
          <a:xfrm flipH="false" flipV="false" rot="0">
            <a:off x="1624757" y="3786906"/>
            <a:ext cx="2223514" cy="2223514"/>
          </a:xfrm>
          <a:custGeom>
            <a:avLst/>
            <a:gdLst/>
            <a:ahLst/>
            <a:cxnLst/>
            <a:rect r="r" b="b" t="t" l="l"/>
            <a:pathLst>
              <a:path h="2223514" w="2223514">
                <a:moveTo>
                  <a:pt x="0" y="0"/>
                </a:moveTo>
                <a:lnTo>
                  <a:pt x="2223514" y="0"/>
                </a:lnTo>
                <a:lnTo>
                  <a:pt x="2223514" y="2223514"/>
                </a:lnTo>
                <a:lnTo>
                  <a:pt x="0" y="2223514"/>
                </a:lnTo>
                <a:lnTo>
                  <a:pt x="0" y="0"/>
                </a:lnTo>
                <a:close/>
              </a:path>
            </a:pathLst>
          </a:custGeom>
          <a:blipFill>
            <a:blip r:embed="rId8"/>
            <a:stretch>
              <a:fillRect l="0" t="0" r="0" b="0"/>
            </a:stretch>
          </a:blipFill>
        </p:spPr>
      </p:sp>
      <p:sp>
        <p:nvSpPr>
          <p:cNvPr name="Freeform 10" id="10"/>
          <p:cNvSpPr/>
          <p:nvPr/>
        </p:nvSpPr>
        <p:spPr>
          <a:xfrm flipH="false" flipV="false" rot="0">
            <a:off x="7405188" y="3601850"/>
            <a:ext cx="2205029" cy="2556555"/>
          </a:xfrm>
          <a:custGeom>
            <a:avLst/>
            <a:gdLst/>
            <a:ahLst/>
            <a:cxnLst/>
            <a:rect r="r" b="b" t="t" l="l"/>
            <a:pathLst>
              <a:path h="2556555" w="2205029">
                <a:moveTo>
                  <a:pt x="0" y="0"/>
                </a:moveTo>
                <a:lnTo>
                  <a:pt x="2205030" y="0"/>
                </a:lnTo>
                <a:lnTo>
                  <a:pt x="2205030" y="2556555"/>
                </a:lnTo>
                <a:lnTo>
                  <a:pt x="0" y="2556555"/>
                </a:lnTo>
                <a:lnTo>
                  <a:pt x="0" y="0"/>
                </a:lnTo>
                <a:close/>
              </a:path>
            </a:pathLst>
          </a:custGeom>
          <a:blipFill>
            <a:blip r:embed="rId9"/>
            <a:stretch>
              <a:fillRect l="0" t="0" r="0" b="0"/>
            </a:stretch>
          </a:blipFill>
        </p:spPr>
      </p:sp>
      <p:sp>
        <p:nvSpPr>
          <p:cNvPr name="TextBox 11" id="11"/>
          <p:cNvSpPr txBox="true"/>
          <p:nvPr/>
        </p:nvSpPr>
        <p:spPr>
          <a:xfrm rot="0">
            <a:off x="295722" y="541962"/>
            <a:ext cx="18105118" cy="466725"/>
          </a:xfrm>
          <a:prstGeom prst="rect">
            <a:avLst/>
          </a:prstGeom>
        </p:spPr>
        <p:txBody>
          <a:bodyPr anchor="t" rtlCol="false" tIns="0" lIns="0" bIns="0" rIns="0">
            <a:spAutoFit/>
          </a:bodyPr>
          <a:lstStyle/>
          <a:p>
            <a:pPr algn="l">
              <a:lnSpc>
                <a:spcPts val="3240"/>
              </a:lnSpc>
            </a:pPr>
            <a:r>
              <a:rPr lang="en-US" sz="2700">
                <a:solidFill>
                  <a:srgbClr val="767171"/>
                </a:solidFill>
                <a:latin typeface="Calibri (MS)"/>
                <a:ea typeface="Calibri (MS)"/>
                <a:cs typeface="Calibri (MS)"/>
                <a:sym typeface="Calibri (MS)"/>
              </a:rPr>
              <a:t>PROYECTO “AXIS FLOW”</a:t>
            </a:r>
          </a:p>
        </p:txBody>
      </p:sp>
      <p:sp>
        <p:nvSpPr>
          <p:cNvPr name="TextBox 12" id="12"/>
          <p:cNvSpPr txBox="true"/>
          <p:nvPr/>
        </p:nvSpPr>
        <p:spPr>
          <a:xfrm rot="0">
            <a:off x="91440" y="2080402"/>
            <a:ext cx="18105118" cy="992357"/>
          </a:xfrm>
          <a:prstGeom prst="rect">
            <a:avLst/>
          </a:prstGeom>
        </p:spPr>
        <p:txBody>
          <a:bodyPr anchor="t" rtlCol="false" tIns="0" lIns="0" bIns="0" rIns="0">
            <a:spAutoFit/>
          </a:bodyPr>
          <a:lstStyle/>
          <a:p>
            <a:pPr algn="ctr">
              <a:lnSpc>
                <a:spcPts val="6480"/>
              </a:lnSpc>
            </a:pPr>
            <a:r>
              <a:rPr lang="en-US" sz="5400">
                <a:solidFill>
                  <a:srgbClr val="000000"/>
                </a:solidFill>
                <a:latin typeface="Calibri (MS)"/>
                <a:ea typeface="Calibri (MS)"/>
                <a:cs typeface="Calibri (MS)"/>
                <a:sym typeface="Calibri (MS)"/>
              </a:rPr>
              <a:t>Tecnologías utilizadas</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TextBox 4" id="4"/>
          <p:cNvSpPr txBox="true"/>
          <p:nvPr/>
        </p:nvSpPr>
        <p:spPr>
          <a:xfrm rot="0">
            <a:off x="91441" y="4500563"/>
            <a:ext cx="18105118" cy="1143000"/>
          </a:xfrm>
          <a:prstGeom prst="rect">
            <a:avLst/>
          </a:prstGeom>
        </p:spPr>
        <p:txBody>
          <a:bodyPr anchor="t" rtlCol="false" tIns="0" lIns="0" bIns="0" rIns="0">
            <a:spAutoFit/>
          </a:bodyPr>
          <a:lstStyle/>
          <a:p>
            <a:pPr algn="ctr">
              <a:lnSpc>
                <a:spcPts val="7920"/>
              </a:lnSpc>
            </a:pPr>
            <a:r>
              <a:rPr lang="en-US" sz="6600">
                <a:solidFill>
                  <a:srgbClr val="000000"/>
                </a:solidFill>
                <a:latin typeface="Calibri (MS)"/>
                <a:ea typeface="Calibri (MS)"/>
                <a:cs typeface="Calibri (MS)"/>
                <a:sym typeface="Calibri (MS)"/>
              </a:rPr>
              <a:t>DEMOSTRACIÓN DEL RESULTADO DEL PROYECTO</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graphicFrame>
        <p:nvGraphicFramePr>
          <p:cNvPr name="Object 4" id="4"/>
          <p:cNvGraphicFramePr/>
          <p:nvPr/>
        </p:nvGraphicFramePr>
        <p:xfrm>
          <a:off x="1293272" y="3583636"/>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91442" y="2091487"/>
            <a:ext cx="18105118" cy="1205597"/>
          </a:xfrm>
          <a:prstGeom prst="rect">
            <a:avLst/>
          </a:prstGeom>
        </p:spPr>
        <p:txBody>
          <a:bodyPr anchor="t" rtlCol="false" tIns="0" lIns="0" bIns="0" rIns="0">
            <a:spAutoFit/>
          </a:bodyPr>
          <a:lstStyle/>
          <a:p>
            <a:pPr algn="ctr">
              <a:lnSpc>
                <a:spcPts val="7920"/>
              </a:lnSpc>
            </a:pPr>
            <a:r>
              <a:rPr lang="en-US" sz="6600">
                <a:solidFill>
                  <a:srgbClr val="000000"/>
                </a:solidFill>
                <a:latin typeface="Calibri (MS)"/>
                <a:ea typeface="Calibri (MS)"/>
                <a:cs typeface="Calibri (MS)"/>
                <a:sym typeface="Calibri (MS)"/>
              </a:rPr>
              <a:t>Resultados obtenidos</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graphicFrame>
        <p:nvGraphicFramePr>
          <p:cNvPr name="Object 4" id="4"/>
          <p:cNvGraphicFramePr/>
          <p:nvPr/>
        </p:nvGraphicFramePr>
        <p:xfrm>
          <a:off x="3258263" y="4061405"/>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91442" y="1944005"/>
            <a:ext cx="18105118" cy="1205597"/>
          </a:xfrm>
          <a:prstGeom prst="rect">
            <a:avLst/>
          </a:prstGeom>
        </p:spPr>
        <p:txBody>
          <a:bodyPr anchor="t" rtlCol="false" tIns="0" lIns="0" bIns="0" rIns="0">
            <a:spAutoFit/>
          </a:bodyPr>
          <a:lstStyle/>
          <a:p>
            <a:pPr algn="ctr">
              <a:lnSpc>
                <a:spcPts val="7920"/>
              </a:lnSpc>
            </a:pPr>
            <a:r>
              <a:rPr lang="en-US" sz="6600">
                <a:solidFill>
                  <a:srgbClr val="000000"/>
                </a:solidFill>
                <a:latin typeface="Calibri (MS)"/>
                <a:ea typeface="Calibri (MS)"/>
                <a:cs typeface="Calibri (MS)"/>
                <a:sym typeface="Calibri (MS)"/>
              </a:rPr>
              <a:t>Obstáculos presentados durante el desarrollo</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158228" y="311325"/>
            <a:ext cx="4712109" cy="1178028"/>
            <a:chOff x="0" y="0"/>
            <a:chExt cx="6282812" cy="1570704"/>
          </a:xfrm>
        </p:grpSpPr>
        <p:sp>
          <p:nvSpPr>
            <p:cNvPr name="Freeform 3" id="3" descr="EscuelaIT Duoc UC - Escuela de Informática y Telecomunicaciones Duoc UC - Duoc  UC | LinkedIn"/>
            <p:cNvSpPr/>
            <p:nvPr/>
          </p:nvSpPr>
          <p:spPr>
            <a:xfrm flipH="false" flipV="false" rot="0">
              <a:off x="0" y="0"/>
              <a:ext cx="6282817" cy="1570736"/>
            </a:xfrm>
            <a:custGeom>
              <a:avLst/>
              <a:gdLst/>
              <a:ahLst/>
              <a:cxnLst/>
              <a:rect r="r" b="b" t="t" l="l"/>
              <a:pathLst>
                <a:path h="1570736" w="6282817">
                  <a:moveTo>
                    <a:pt x="0" y="0"/>
                  </a:moveTo>
                  <a:lnTo>
                    <a:pt x="6282817" y="0"/>
                  </a:lnTo>
                  <a:lnTo>
                    <a:pt x="6282817" y="1570736"/>
                  </a:lnTo>
                  <a:lnTo>
                    <a:pt x="0" y="1570736"/>
                  </a:lnTo>
                  <a:lnTo>
                    <a:pt x="0" y="0"/>
                  </a:lnTo>
                  <a:close/>
                </a:path>
              </a:pathLst>
            </a:custGeom>
            <a:blipFill>
              <a:blip r:embed="rId2"/>
              <a:stretch>
                <a:fillRect l="0" t="0" r="0" b="2"/>
              </a:stretch>
            </a:blipFill>
          </p:spPr>
        </p:sp>
      </p:grpSp>
      <p:sp>
        <p:nvSpPr>
          <p:cNvPr name="TextBox 4" id="4"/>
          <p:cNvSpPr txBox="true"/>
          <p:nvPr/>
        </p:nvSpPr>
        <p:spPr>
          <a:xfrm rot="0">
            <a:off x="91440" y="4469263"/>
            <a:ext cx="18105118" cy="1205596"/>
          </a:xfrm>
          <a:prstGeom prst="rect">
            <a:avLst/>
          </a:prstGeom>
        </p:spPr>
        <p:txBody>
          <a:bodyPr anchor="t" rtlCol="false" tIns="0" lIns="0" bIns="0" rIns="0">
            <a:spAutoFit/>
          </a:bodyPr>
          <a:lstStyle/>
          <a:p>
            <a:pPr algn="ctr">
              <a:lnSpc>
                <a:spcPts val="7920"/>
              </a:lnSpc>
            </a:pPr>
            <a:r>
              <a:rPr lang="en-US" sz="6600">
                <a:solidFill>
                  <a:srgbClr val="000000"/>
                </a:solidFill>
                <a:latin typeface="Calibri (MS)"/>
                <a:ea typeface="Calibri (MS)"/>
                <a:cs typeface="Calibri (MS)"/>
                <a:sym typeface="Calibri (MS)"/>
              </a:rPr>
              <a:t>PREGUNTAS DE LA COMISIÓN</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DAG5KkANqho</dc:identifier>
  <dcterms:modified xsi:type="dcterms:W3CDTF">2011-08-01T06:04:30Z</dcterms:modified>
  <cp:revision>1</cp:revision>
  <dc:title>Formato Presentación final</dc:title>
</cp:coreProperties>
</file>